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04" dt="2026-10-15T13:28:35.011"/>
    <p1510:client id="{8F3B9840-AFF8-DE15-1612-44A1AC9C33FF}" v="387" dt="2026-10-15T13:18:46.5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250899-F33D-460C-8FA0-850BAD7E81B7}" type="datetimeFigureOut"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5F004D-4EE6-4313-AA8D-53C613A562D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61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5F004D-4EE6-4313-AA8D-53C613A562D8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754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endParaRPr lang="en-US">
              <a:solidFill>
                <a:srgbClr val="262626"/>
              </a:solidFill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5F004D-4EE6-4313-AA8D-53C613A562D8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20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endParaRPr lang="en-US">
              <a:solidFill>
                <a:srgbClr val="262626"/>
              </a:solidFill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5F004D-4EE6-4313-AA8D-53C613A562D8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83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Respiratory In Class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39B7D-523B-8EFF-0C38-B1E010246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Active Recall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77AE1-F25C-87A2-4F10-B298752C5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Write down everything you can think of about: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Upper respiratory disorders and medication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Lower respiratory disease and medication</a:t>
            </a:r>
          </a:p>
        </p:txBody>
      </p:sp>
    </p:spTree>
    <p:extLst>
      <p:ext uri="{BB962C8B-B14F-4D97-AF65-F5344CB8AC3E}">
        <p14:creationId xmlns:p14="http://schemas.microsoft.com/office/powerpoint/2010/main" val="3846486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52495-33FF-874E-9667-3F240267D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Upper Respiratory Medications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DA719-87B9-E7B4-E9A9-365D69BC2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Antihistamines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Decrease allergy symptoms by blocking histamine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First generation: Diphenhydramine (sedating)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Second generation: Cetirizine (less sedating)</a:t>
            </a:r>
          </a:p>
          <a:p>
            <a:r>
              <a:rPr lang="en-US"/>
              <a:t>Antitussives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Suppress the cough reflex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Opioid: Codeine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Non opioid: Dextromethorphan </a:t>
            </a:r>
          </a:p>
        </p:txBody>
      </p:sp>
    </p:spTree>
    <p:extLst>
      <p:ext uri="{BB962C8B-B14F-4D97-AF65-F5344CB8AC3E}">
        <p14:creationId xmlns:p14="http://schemas.microsoft.com/office/powerpoint/2010/main" val="1025769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9400E-45C0-A124-9926-6BD87A2BF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Lower Respiratory Medications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77622-DC9D-D2D8-18F8-DE7B3CB80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600"/>
              <a:t>Bronchoconstriction:</a:t>
            </a:r>
            <a:r>
              <a:rPr lang="en-US" sz="1600">
                <a:latin typeface="Aptos"/>
                <a:cs typeface="Segoe UI"/>
              </a:rPr>
              <a:t> </a:t>
            </a:r>
            <a:r>
              <a:rPr lang="en-US" sz="1600">
                <a:latin typeface="Segoe UI"/>
                <a:cs typeface="Segoe UI"/>
              </a:rPr>
              <a:t>Airways become narrow, making it difficult for air to move in and out.</a:t>
            </a:r>
            <a:endParaRPr lang="en-US" sz="1600">
              <a:latin typeface="Aptos" panose="02110004020202020204"/>
              <a:cs typeface="Segoe UI"/>
            </a:endParaRPr>
          </a:p>
          <a:p>
            <a:pPr marL="0" indent="0">
              <a:buNone/>
            </a:pPr>
            <a:r>
              <a:rPr lang="en-US" sz="1600" b="1">
                <a:latin typeface="Segoe UI"/>
                <a:cs typeface="Segoe UI"/>
              </a:rPr>
              <a:t>  Medications</a:t>
            </a:r>
            <a:endParaRPr lang="en-US" sz="16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Segoe UI"/>
                <a:cs typeface="Segoe UI"/>
              </a:rPr>
              <a:t>Albuterol (SABA)</a:t>
            </a:r>
            <a:endParaRPr lang="en-US" sz="16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Segoe UI"/>
                <a:cs typeface="Segoe UI"/>
              </a:rPr>
              <a:t>Salmeterol (LABA)</a:t>
            </a:r>
            <a:endParaRPr lang="en-US" sz="16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Segoe UI"/>
                <a:cs typeface="Segoe UI"/>
              </a:rPr>
              <a:t>Ipratropium (SAMA)</a:t>
            </a:r>
            <a:endParaRPr lang="en-US" sz="16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Segoe UI"/>
                <a:cs typeface="Segoe UI"/>
              </a:rPr>
              <a:t>Tiotropium (LAMA)</a:t>
            </a:r>
            <a:endParaRPr lang="en-US" sz="1600"/>
          </a:p>
          <a:p>
            <a:pPr marL="0" indent="0">
              <a:buNone/>
            </a:pPr>
            <a:r>
              <a:rPr lang="en-US" sz="1600"/>
              <a:t>Airway Inflammation:</a:t>
            </a:r>
            <a:r>
              <a:rPr lang="en-US" sz="1600">
                <a:latin typeface="Aptos"/>
                <a:cs typeface="Segoe UI"/>
              </a:rPr>
              <a:t> </a:t>
            </a:r>
            <a:r>
              <a:rPr lang="en-US" sz="1600">
                <a:latin typeface="Segoe UI"/>
                <a:cs typeface="Segoe UI"/>
              </a:rPr>
              <a:t>Inflammation causes swelling of the airways and increased mucus production</a:t>
            </a:r>
            <a:endParaRPr lang="en-US" sz="1600"/>
          </a:p>
          <a:p>
            <a:pPr marL="0" indent="0">
              <a:buNone/>
            </a:pPr>
            <a:r>
              <a:rPr lang="en-US" sz="1600" b="1">
                <a:latin typeface="Segoe UI"/>
                <a:cs typeface="Segoe UI"/>
              </a:rPr>
              <a:t>    Medications</a:t>
            </a:r>
            <a:endParaRPr lang="en-US" sz="16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Segoe UI"/>
                <a:cs typeface="Segoe UI"/>
              </a:rPr>
              <a:t>Fluticasone</a:t>
            </a:r>
            <a:endParaRPr lang="en-US" sz="16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Segoe UI"/>
                <a:cs typeface="Segoe UI"/>
              </a:rPr>
              <a:t>Montelukast</a:t>
            </a:r>
            <a:endParaRPr lang="en-US" sz="1600"/>
          </a:p>
          <a:p>
            <a:pPr marL="0" indent="0">
              <a:buNone/>
            </a:pPr>
            <a:r>
              <a:rPr lang="en-US" sz="1600"/>
              <a:t>Excess Mucus and Air Trapping: </a:t>
            </a:r>
            <a:r>
              <a:rPr lang="en-US" sz="1600">
                <a:latin typeface="Segoe UI"/>
                <a:cs typeface="Segoe UI"/>
              </a:rPr>
              <a:t>Can contribute to coughing, wheezing, and shortness of breath.</a:t>
            </a:r>
            <a:endParaRPr lang="en-US" sz="1600"/>
          </a:p>
          <a:p>
            <a:pPr marL="0" indent="0">
              <a:buNone/>
            </a:pPr>
            <a:r>
              <a:rPr lang="en-US" sz="1600" b="1">
                <a:latin typeface="Segoe UI"/>
                <a:cs typeface="Segoe UI"/>
              </a:rPr>
              <a:t>    Medications</a:t>
            </a:r>
            <a:endParaRPr lang="en-US" sz="16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Segoe UI"/>
                <a:cs typeface="Segoe UI"/>
              </a:rPr>
              <a:t>Ipratropium/Tiotropium (decrease secretions)</a:t>
            </a:r>
            <a:endParaRPr lang="en-US" sz="1600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77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3ADAB-E40D-5BAD-DB99-6F63D738E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>
                <a:solidFill>
                  <a:srgbClr val="FFFFFF"/>
                </a:solidFill>
              </a:rPr>
              <a:t>Review of Bronchodilators</a:t>
            </a:r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D09FA52-0760-C6C3-9B36-24FE85D572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4525076"/>
              </p:ext>
            </p:extLst>
          </p:nvPr>
        </p:nvGraphicFramePr>
        <p:xfrm>
          <a:off x="410817" y="1762539"/>
          <a:ext cx="11341792" cy="50380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94829">
                  <a:extLst>
                    <a:ext uri="{9D8B030D-6E8A-4147-A177-3AD203B41FA5}">
                      <a16:colId xmlns:a16="http://schemas.microsoft.com/office/drawing/2014/main" val="428035512"/>
                    </a:ext>
                  </a:extLst>
                </a:gridCol>
                <a:gridCol w="1404780">
                  <a:extLst>
                    <a:ext uri="{9D8B030D-6E8A-4147-A177-3AD203B41FA5}">
                      <a16:colId xmlns:a16="http://schemas.microsoft.com/office/drawing/2014/main" val="3075302062"/>
                    </a:ext>
                  </a:extLst>
                </a:gridCol>
                <a:gridCol w="1900055">
                  <a:extLst>
                    <a:ext uri="{9D8B030D-6E8A-4147-A177-3AD203B41FA5}">
                      <a16:colId xmlns:a16="http://schemas.microsoft.com/office/drawing/2014/main" val="4182511902"/>
                    </a:ext>
                  </a:extLst>
                </a:gridCol>
                <a:gridCol w="1843772">
                  <a:extLst>
                    <a:ext uri="{9D8B030D-6E8A-4147-A177-3AD203B41FA5}">
                      <a16:colId xmlns:a16="http://schemas.microsoft.com/office/drawing/2014/main" val="697783090"/>
                    </a:ext>
                  </a:extLst>
                </a:gridCol>
                <a:gridCol w="1517341">
                  <a:extLst>
                    <a:ext uri="{9D8B030D-6E8A-4147-A177-3AD203B41FA5}">
                      <a16:colId xmlns:a16="http://schemas.microsoft.com/office/drawing/2014/main" val="3053467460"/>
                    </a:ext>
                  </a:extLst>
                </a:gridCol>
                <a:gridCol w="1584879">
                  <a:extLst>
                    <a:ext uri="{9D8B030D-6E8A-4147-A177-3AD203B41FA5}">
                      <a16:colId xmlns:a16="http://schemas.microsoft.com/office/drawing/2014/main" val="3720865801"/>
                    </a:ext>
                  </a:extLst>
                </a:gridCol>
                <a:gridCol w="1596136">
                  <a:extLst>
                    <a:ext uri="{9D8B030D-6E8A-4147-A177-3AD203B41FA5}">
                      <a16:colId xmlns:a16="http://schemas.microsoft.com/office/drawing/2014/main" val="514384237"/>
                    </a:ext>
                  </a:extLst>
                </a:gridCol>
              </a:tblGrid>
              <a:tr h="598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Class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Prototype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Mechanism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Use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Rescue or Maintenance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Major Adverse Effects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Key Teaching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171520"/>
                  </a:ext>
                </a:extLst>
              </a:tr>
              <a:tr h="1109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SABA</a:t>
                      </a:r>
                      <a:r>
                        <a:rPr lang="en-US" sz="1400"/>
                        <a:t> (Short-Acting Beta₂ Agonist)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Albuterol</a:t>
                      </a:r>
                      <a:endParaRPr lang="en-US" sz="1400"/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Stimulates beta₂ receptors → bronchodilation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Acute bronchospasm, acute asthma symptoms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Rescue</a:t>
                      </a:r>
                      <a:endParaRPr lang="en-US" sz="1400"/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Tachycardia, tremor, nervousness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Use for sudden symptoms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156717"/>
                  </a:ext>
                </a:extLst>
              </a:tr>
              <a:tr h="1109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LABA</a:t>
                      </a:r>
                      <a:r>
                        <a:rPr lang="en-US" sz="1400"/>
                        <a:t> (Long-Acting Beta₂ Agonist)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Salmeterol</a:t>
                      </a:r>
                      <a:endParaRPr lang="en-US" sz="1400"/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Stimulates beta₂ receptors → prolonged bronchodilation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Long-term asthma and COPD control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Maintenance</a:t>
                      </a:r>
                      <a:endParaRPr lang="en-US" sz="1400"/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Tachycardia, tremor, nervousness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Not for acute attacks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3759243"/>
                  </a:ext>
                </a:extLst>
              </a:tr>
              <a:tr h="1109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SAMA</a:t>
                      </a:r>
                      <a:r>
                        <a:rPr lang="en-US" sz="1400"/>
                        <a:t> (Short-Acting Muscarinic Antagonist)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Ipratropium</a:t>
                      </a:r>
                      <a:endParaRPr lang="en-US" sz="1400"/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Blocks muscarinic receptors → bronchodilation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COPD maintenance; adjunct in asthma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Maintenance*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Dry mouth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Anticholinergic bronchodilator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501065"/>
                  </a:ext>
                </a:extLst>
              </a:tr>
              <a:tr h="1109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LAMA</a:t>
                      </a:r>
                      <a:r>
                        <a:rPr lang="en-US" sz="1400"/>
                        <a:t> (Long-Acting Muscarinic Antagonist)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Tiotropium</a:t>
                      </a:r>
                      <a:endParaRPr lang="en-US" sz="1400"/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Blocks muscarinic receptors → prolonged bronchodilation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Long-term COPD maintenance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Maintenance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Dry mouth, urinary retention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Long-acting maintenance medication</a:t>
                      </a:r>
                    </a:p>
                  </a:txBody>
                  <a:tcPr marL="68735" marR="68735" marT="34367" marB="343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214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175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240BA-B311-F680-68C4-94A1609A8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Inhaled corticosteroids and leukotriene modifiers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148CC-B02E-20FE-1EB0-AD2DB1449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Fluticasone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Reduce inflammation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Often combined with LABA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Rinse mouth and spit after use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Do not stop abruptly</a:t>
            </a:r>
          </a:p>
          <a:p>
            <a:r>
              <a:rPr lang="en-US"/>
              <a:t>Montelukast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Blocks leukotriene receptors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Improved airflow, reduce mucus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Not for acute exacerbations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Assess for mood and behavior changes</a:t>
            </a:r>
          </a:p>
        </p:txBody>
      </p:sp>
    </p:spTree>
    <p:extLst>
      <p:ext uri="{BB962C8B-B14F-4D97-AF65-F5344CB8AC3E}">
        <p14:creationId xmlns:p14="http://schemas.microsoft.com/office/powerpoint/2010/main" val="4227959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4A93-7080-D7B9-CD92-12CBB722E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 Class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4922A-A089-F128-33DB-3D920B5CA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Create a client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Brief explanation of disease process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Signs and symptoms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Medication Teaching Plan</a:t>
            </a:r>
            <a:endParaRPr lang="en-US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Seasonal allergies/allergic rhinitis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Upper respiratory infection with cough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Mild </a:t>
            </a:r>
            <a:r>
              <a:rPr lang="en-US"/>
              <a:t>persistent asthma</a:t>
            </a:r>
            <a:endParaRPr lang="en-US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Poorly contr</a:t>
            </a:r>
            <a:r>
              <a:rPr lang="en-US"/>
              <a:t>olled asthma</a:t>
            </a:r>
            <a:endParaRPr lang="en-US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COPD</a:t>
            </a:r>
            <a:endParaRPr lang="en-US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Medication safety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189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10EC8E86061843861C955142D28CF4" ma:contentTypeVersion="9" ma:contentTypeDescription="Create a new document." ma:contentTypeScope="" ma:versionID="ee757357c89f6efe84f9cd69a80256e9">
  <xsd:schema xmlns:xsd="http://www.w3.org/2001/XMLSchema" xmlns:xs="http://www.w3.org/2001/XMLSchema" xmlns:p="http://schemas.microsoft.com/office/2006/metadata/properties" xmlns:ns2="f6894d61-f8ba-4e38-9c44-e0a731c25c6f" xmlns:ns3="1123a73e-18c8-474d-9636-4142ad0124a8" targetNamespace="http://schemas.microsoft.com/office/2006/metadata/properties" ma:root="true" ma:fieldsID="7c3c751b54bad79fb93eb03f8ff39242" ns2:_="" ns3:_="">
    <xsd:import namespace="f6894d61-f8ba-4e38-9c44-e0a731c25c6f"/>
    <xsd:import namespace="1123a73e-18c8-474d-9636-4142ad0124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894d61-f8ba-4e38-9c44-e0a731c25c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2fdbf69-eb56-44ce-81fc-1e4d5a9fd8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23a73e-18c8-474d-9636-4142ad0124a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7926ddc-da60-46bb-ad41-fa6146378fad}" ma:internalName="TaxCatchAll" ma:showField="CatchAllData" ma:web="1123a73e-18c8-474d-9636-4142ad0124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123a73e-18c8-474d-9636-4142ad0124a8" xsi:nil="true"/>
    <lcf76f155ced4ddcb4097134ff3c332f xmlns="f6894d61-f8ba-4e38-9c44-e0a731c25c6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81617F9-FF08-4BEF-9955-AE1FD0F4D70F}">
  <ds:schemaRefs>
    <ds:schemaRef ds:uri="1123a73e-18c8-474d-9636-4142ad0124a8"/>
    <ds:schemaRef ds:uri="f6894d61-f8ba-4e38-9c44-e0a731c25c6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3F9A59F-6F2B-4EF1-94D8-8E3A6829394C}">
  <ds:schemaRefs>
    <ds:schemaRef ds:uri="1123a73e-18c8-474d-9636-4142ad0124a8"/>
    <ds:schemaRef ds:uri="f6894d61-f8ba-4e38-9c44-e0a731c25c6f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59FD04C-884F-4C1C-8B22-2EB5DDFEBA3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7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Respiratory In Class</vt:lpstr>
      <vt:lpstr>Active Recall</vt:lpstr>
      <vt:lpstr>Upper Respiratory Medications</vt:lpstr>
      <vt:lpstr>Lower Respiratory Medications</vt:lpstr>
      <vt:lpstr>Review of Bronchodilators</vt:lpstr>
      <vt:lpstr>Inhaled corticosteroids and leukotriene modifiers</vt:lpstr>
      <vt:lpstr>In Class 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19</cp:revision>
  <dcterms:created xsi:type="dcterms:W3CDTF">2026-10-15T00:53:57Z</dcterms:created>
  <dcterms:modified xsi:type="dcterms:W3CDTF">2026-10-15T13:31:21Z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0x0101008110EC8E86061843861C955142D28CF4</vt:lpwstr>
  </property>
  <property fmtid="{D5CDD505-2E9C-101B-9397-08002B2CF9AE}" pid="3" name="MediaServiceImageTags">
    <vt:lpwstr/>
  </property>
</Properties>
</file>