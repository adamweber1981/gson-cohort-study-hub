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E4F96-AFBD-74F4-5D80-1C93865EC1C2}" v="1040" dt="2026-10-22T13:17:40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5E56D-E634-4F73-828B-D7214CC25C94}" type="datetimeFigureOut"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A232F5-6406-49D6-9548-3D1B38303A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15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 dirty="0">
              <a:solidFill>
                <a:srgbClr val="262626"/>
              </a:solidFill>
              <a:ea typeface="Calibri"/>
              <a:cs typeface="Calibri"/>
            </a:endParaRPr>
          </a:p>
          <a:p>
            <a:pPr marL="171450" indent="-171450">
              <a:buFont typeface="Arial,Sans-Serif"/>
              <a:buChar char="•"/>
            </a:pP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 dirty="0">
              <a:solidFill>
                <a:srgbClr val="262626"/>
              </a:solidFill>
              <a:ea typeface="Calibri"/>
              <a:cs typeface="Calibri"/>
            </a:endParaRPr>
          </a:p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 dirty="0">
              <a:solidFill>
                <a:srgbClr val="262626"/>
              </a:solidFill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232F5-6406-49D6-9548-3D1B38303A25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6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 dirty="0">
              <a:solidFill>
                <a:srgbClr val="262626"/>
              </a:solidFill>
              <a:ea typeface="Calibri"/>
              <a:cs typeface="Calibri"/>
            </a:endParaRPr>
          </a:p>
          <a:p>
            <a:pPr marL="628650" lvl="1" indent="-1714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 dirty="0">
              <a:solidFill>
                <a:srgbClr val="262626"/>
              </a:solidFill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232F5-6406-49D6-9548-3D1B38303A25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66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232F5-6406-49D6-9548-3D1B38303A25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82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Nervous System </a:t>
            </a:r>
            <a:br>
              <a:rPr lang="en-US" dirty="0"/>
            </a:br>
            <a:r>
              <a:rPr lang="en-US"/>
              <a:t>In Class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0E48-7838-AC22-E260-14E84C611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Active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1EFCD-725E-517C-A274-A9F45A477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89503" cy="42955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For each medication: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Why is the client taking it?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What sh</a:t>
            </a:r>
            <a:r>
              <a:rPr lang="en-US"/>
              <a:t>ould I monitor for?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What should I teach the client?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0B1295-5D69-0F13-477F-9B71B61D089A}"/>
              </a:ext>
            </a:extLst>
          </p:cNvPr>
          <p:cNvSpPr txBox="1"/>
          <p:nvPr/>
        </p:nvSpPr>
        <p:spPr>
          <a:xfrm>
            <a:off x="5478553" y="1824979"/>
            <a:ext cx="6417113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Nervous System Medications:</a:t>
            </a:r>
          </a:p>
          <a:p>
            <a:pPr marL="457200" indent="-457200">
              <a:buFont typeface="Arial"/>
              <a:buChar char="•"/>
            </a:pPr>
            <a:r>
              <a:rPr lang="en-US" sz="2400"/>
              <a:t>Phenytoin</a:t>
            </a:r>
          </a:p>
          <a:p>
            <a:pPr marL="457200" indent="-457200">
              <a:buFont typeface="Arial"/>
              <a:buChar char="•"/>
            </a:pPr>
            <a:r>
              <a:rPr lang="en-US" sz="2400"/>
              <a:t>Valproic Acid</a:t>
            </a:r>
            <a:endParaRPr lang="en-US" sz="2400" dirty="0"/>
          </a:p>
          <a:p>
            <a:pPr marL="457200" indent="-457200">
              <a:buFont typeface="Arial"/>
              <a:buChar char="•"/>
            </a:pPr>
            <a:r>
              <a:rPr lang="en-US" sz="2400"/>
              <a:t>Lorazepam</a:t>
            </a:r>
            <a:endParaRPr lang="en-US" sz="2400" dirty="0"/>
          </a:p>
          <a:p>
            <a:pPr marL="457200" indent="-457200">
              <a:buFont typeface="Arial"/>
              <a:buChar char="•"/>
            </a:pPr>
            <a:r>
              <a:rPr lang="en-US" sz="2400"/>
              <a:t>Carbidopa-Levodopa</a:t>
            </a:r>
            <a:endParaRPr lang="en-US" sz="2400" dirty="0"/>
          </a:p>
          <a:p>
            <a:pPr marL="457200" indent="-457200">
              <a:buFont typeface="Arial"/>
              <a:buChar char="•"/>
            </a:pPr>
            <a:r>
              <a:rPr lang="en-US" sz="2400"/>
              <a:t>Gabapentin</a:t>
            </a:r>
            <a:endParaRPr lang="en-US" sz="2400" dirty="0"/>
          </a:p>
          <a:p>
            <a:pPr marL="457200" indent="-457200">
              <a:buFont typeface="Arial"/>
              <a:buChar char="•"/>
            </a:pPr>
            <a:r>
              <a:rPr lang="en-US" sz="2400"/>
              <a:t>Donepezil</a:t>
            </a:r>
            <a:endParaRPr lang="en-US" sz="2400" dirty="0"/>
          </a:p>
          <a:p>
            <a:pPr marL="457200" indent="-457200">
              <a:buFont typeface="Arial"/>
              <a:buChar char="•"/>
            </a:pPr>
            <a:r>
              <a:rPr lang="en-US" sz="2400"/>
              <a:t>Methylphenidate</a:t>
            </a:r>
            <a:endParaRPr lang="en-US" sz="2400" dirty="0"/>
          </a:p>
          <a:p>
            <a:pPr marL="457200" indent="-457200">
              <a:buFont typeface="Arial"/>
              <a:buChar char="•"/>
            </a:pPr>
            <a:endParaRPr lang="en-US" sz="2800" dirty="0"/>
          </a:p>
          <a:p>
            <a:r>
              <a:rPr lang="en-US" sz="2800"/>
              <a:t> </a:t>
            </a:r>
            <a:endParaRPr lang="en-US" sz="2800" dirty="0"/>
          </a:p>
          <a:p>
            <a:r>
              <a:rPr lang="en-US"/>
              <a:t> 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76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92E5-6F39-8BF2-0767-4D7186517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Seizure </a:t>
            </a:r>
            <a:r>
              <a:rPr lang="en-US"/>
              <a:t>Medications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D43FCD-0F3B-8871-04AF-FD6802F344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8649094"/>
              </p:ext>
            </p:extLst>
          </p:nvPr>
        </p:nvGraphicFramePr>
        <p:xfrm>
          <a:off x="838200" y="1825625"/>
          <a:ext cx="10646570" cy="3649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3285">
                  <a:extLst>
                    <a:ext uri="{9D8B030D-6E8A-4147-A177-3AD203B41FA5}">
                      <a16:colId xmlns:a16="http://schemas.microsoft.com/office/drawing/2014/main" val="99320322"/>
                    </a:ext>
                  </a:extLst>
                </a:gridCol>
                <a:gridCol w="5323285">
                  <a:extLst>
                    <a:ext uri="{9D8B030D-6E8A-4147-A177-3AD203B41FA5}">
                      <a16:colId xmlns:a16="http://schemas.microsoft.com/office/drawing/2014/main" val="364122142"/>
                    </a:ext>
                  </a:extLst>
                </a:gridCol>
              </a:tblGrid>
              <a:tr h="833437">
                <a:tc>
                  <a:txBody>
                    <a:bodyPr/>
                    <a:lstStyle/>
                    <a:p>
                      <a:r>
                        <a:rPr lang="en-US"/>
                        <a:t>Prevents Seizures/Maintenance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Treats an Active Seizure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242734"/>
                  </a:ext>
                </a:extLst>
              </a:tr>
              <a:tr h="1408164">
                <a:tc>
                  <a:txBody>
                    <a:bodyPr/>
                    <a:lstStyle/>
                    <a:p>
                      <a:r>
                        <a:rPr lang="en-US"/>
                        <a:t>Phenytoin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Gingival hyperplasia</a:t>
                      </a:r>
                      <a:endParaRPr lang="en-US" dirty="0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Drug level monitoring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Lorazepam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Treats status epilepticus</a:t>
                      </a:r>
                      <a:endParaRPr lang="en-US" dirty="0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Risk for respiratory depression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504686"/>
                  </a:ext>
                </a:extLst>
              </a:tr>
              <a:tr h="1408164">
                <a:tc>
                  <a:txBody>
                    <a:bodyPr/>
                    <a:lstStyle/>
                    <a:p>
                      <a:r>
                        <a:rPr lang="en-US"/>
                        <a:t>Valproic Acid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Hepatotoxicity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/>
                        <a:t>Pancreatitis</a:t>
                      </a:r>
                      <a:endParaRPr lang="en-US" dirty="0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72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9790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B53E-B839-846A-B43C-0CCD5F55B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Pain, Movement, </a:t>
            </a:r>
            <a:r>
              <a:rPr lang="en-US"/>
              <a:t>Memory, and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D3278-8490-451A-7A5D-0EC63424B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/>
              <a:t>Gabapentin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Neuropathic pain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Cause dizziness/</a:t>
            </a:r>
            <a:r>
              <a:rPr lang="en-US"/>
              <a:t>drowsiness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Do not stop </a:t>
            </a:r>
            <a:r>
              <a:rPr lang="en-US"/>
              <a:t>abruptly</a:t>
            </a:r>
            <a:endParaRPr lang="en-US" dirty="0"/>
          </a:p>
          <a:p>
            <a:r>
              <a:rPr lang="en-US"/>
              <a:t>Carbidopa</a:t>
            </a:r>
            <a:r>
              <a:rPr lang="en-US" dirty="0"/>
              <a:t>-Levodopa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Parkinson's Disease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Increases dopamine in the brain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Risk for orthostatic hypotension</a:t>
            </a:r>
            <a:endParaRPr lang="en-US" dirty="0"/>
          </a:p>
          <a:p>
            <a:r>
              <a:rPr lang="en-US"/>
              <a:t>Donepezil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Alzheimer's Disease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Increases acetylcholine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Risk for bradycardia</a:t>
            </a:r>
            <a:endParaRPr lang="en-US" dirty="0"/>
          </a:p>
          <a:p>
            <a:r>
              <a:rPr lang="en-US"/>
              <a:t>Methylphenidate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ADHD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Causes appetite suppression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Monitor weight and growth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86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9A6E5-A83B-871E-B79D-82BC39687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Client Monitoring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3B3293-308B-2062-D444-9CAA37FAC4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508633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938889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32558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Medication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Monitoring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157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Phenytoin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04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Valproic Acid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87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Lorazepam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988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Carbidopa-Levodopa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438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Donepezil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183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Gabapentin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12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Methylphenidate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652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980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42652-DF70-F186-51FC-70609DAB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Respiratory </a:t>
            </a:r>
            <a:r>
              <a:rPr lang="en-US"/>
              <a:t>Active Recall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B6DC8-B561-546D-6B11-8CFA3BFAA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/>
              <a:t>For each medication: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Class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Why prescribed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One side/adverse effect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/>
              <a:t>One teaching point</a:t>
            </a:r>
          </a:p>
          <a:p>
            <a:r>
              <a:rPr lang="en-US"/>
              <a:t>Medications: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Albuterol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Fluticasone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Montelukast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Ipratropium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Cetiri</a:t>
            </a:r>
            <a:r>
              <a:rPr lang="en-US"/>
              <a:t>zine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Diphenhydramine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Codeine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64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10EC8E86061843861C955142D28CF4" ma:contentTypeVersion="9" ma:contentTypeDescription="Create a new document." ma:contentTypeScope="" ma:versionID="ee757357c89f6efe84f9cd69a80256e9">
  <xsd:schema xmlns:xsd="http://www.w3.org/2001/XMLSchema" xmlns:xs="http://www.w3.org/2001/XMLSchema" xmlns:p="http://schemas.microsoft.com/office/2006/metadata/properties" xmlns:ns2="f6894d61-f8ba-4e38-9c44-e0a731c25c6f" xmlns:ns3="1123a73e-18c8-474d-9636-4142ad0124a8" targetNamespace="http://schemas.microsoft.com/office/2006/metadata/properties" ma:root="true" ma:fieldsID="7c3c751b54bad79fb93eb03f8ff39242" ns2:_="" ns3:_="">
    <xsd:import namespace="f6894d61-f8ba-4e38-9c44-e0a731c25c6f"/>
    <xsd:import namespace="1123a73e-18c8-474d-9636-4142ad0124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894d61-f8ba-4e38-9c44-e0a731c25c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2fdbf69-eb56-44ce-81fc-1e4d5a9fd8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23a73e-18c8-474d-9636-4142ad0124a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7926ddc-da60-46bb-ad41-fa6146378fad}" ma:internalName="TaxCatchAll" ma:showField="CatchAllData" ma:web="1123a73e-18c8-474d-9636-4142ad0124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123a73e-18c8-474d-9636-4142ad0124a8" xsi:nil="true"/>
    <lcf76f155ced4ddcb4097134ff3c332f xmlns="f6894d61-f8ba-4e38-9c44-e0a731c25c6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F4B0DA3-A563-4C01-AFCD-025AECFF01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13E098-B9C2-489E-B8C0-693F6FDE23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894d61-f8ba-4e38-9c44-e0a731c25c6f"/>
    <ds:schemaRef ds:uri="1123a73e-18c8-474d-9636-4142ad0124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D39AE4E-A2BF-415C-ADC4-12E017C12FBF}">
  <ds:schemaRefs>
    <ds:schemaRef ds:uri="http://schemas.microsoft.com/office/2006/metadata/properties"/>
    <ds:schemaRef ds:uri="http://schemas.microsoft.com/office/infopath/2007/PartnerControls"/>
    <ds:schemaRef ds:uri="1123a73e-18c8-474d-9636-4142ad0124a8"/>
    <ds:schemaRef ds:uri="f6894d61-f8ba-4e38-9c44-e0a731c25c6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Nervous System  In Class Review</vt:lpstr>
      <vt:lpstr>Active Recall</vt:lpstr>
      <vt:lpstr>Seizure Medications</vt:lpstr>
      <vt:lpstr>Pain, Movement, Memory, and Attention</vt:lpstr>
      <vt:lpstr>Client Monitoring</vt:lpstr>
      <vt:lpstr>Respiratory Active Recall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164</cp:revision>
  <dcterms:created xsi:type="dcterms:W3CDTF">2026-10-21T18:40:25Z</dcterms:created>
  <dcterms:modified xsi:type="dcterms:W3CDTF">2026-10-22T13:19:02Z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0x0101008110EC8E86061843861C955142D28CF4</vt:lpwstr>
  </property>
  <property fmtid="{D5CDD505-2E9C-101B-9397-08002B2CF9AE}" pid="3" name="MediaServiceImageTags">
    <vt:lpwstr/>
  </property>
</Properties>
</file>