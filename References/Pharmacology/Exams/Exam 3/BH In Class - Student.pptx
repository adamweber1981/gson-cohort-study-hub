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56" r:id="rId5"/>
    <p:sldId id="262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511F3-71FE-B309-3DFF-A2071FB2729D}" v="1280" dt="2026-10-23T13:15:11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3A0D8-7176-44B6-98F4-18E9280DF911}" type="datetimeFigureOut"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700B40-E79D-407D-89C7-739C5EE16E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48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700B40-E79D-407D-89C7-739C5EE16EAA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73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700B40-E79D-407D-89C7-739C5EE16EAA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50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85850" lvl="2" indent="-171450">
              <a:buFont typeface="Arial,Sans-Serif"/>
              <a:buChar char="•"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700B40-E79D-407D-89C7-739C5EE16EAA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7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700B40-E79D-407D-89C7-739C5EE16EAA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Behavioral Health In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C957A-C584-DFCB-6A23-C40182C4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Active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34084-C5E9-4AA2-9894-9C3949BB3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are the major similarities that </a:t>
            </a:r>
            <a:r>
              <a:rPr lang="en-US" dirty="0" err="1"/>
              <a:t>antidepressan</a:t>
            </a:r>
            <a:r>
              <a:rPr lang="en-US"/>
              <a:t>ts share?</a:t>
            </a:r>
          </a:p>
          <a:p>
            <a:r>
              <a:rPr lang="en-US"/>
              <a:t>What are the major differences between: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Fluoxetine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Venlafaxine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Buprop</a:t>
            </a:r>
            <a:r>
              <a:rPr lang="en-US" dirty="0"/>
              <a:t>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Amitriptyline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Selegiline </a:t>
            </a:r>
            <a:endParaRPr lang="en-US" dirty="0"/>
          </a:p>
          <a:p>
            <a:r>
              <a:rPr lang="en-US"/>
              <a:t>What is important to teach a client taking Lithium?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6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8B56C-AAB2-B66B-26D8-1BDECA2F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Antidepressan</a:t>
            </a:r>
            <a:r>
              <a:rPr lang="en-US" dirty="0"/>
              <a:t>t Similari</a:t>
            </a:r>
            <a:r>
              <a:rPr lang="en-US"/>
              <a:t>ties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60878-9C8D-2078-DCC4-212E4A26F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Treat depression</a:t>
            </a:r>
          </a:p>
          <a:p>
            <a:r>
              <a:rPr lang="en-US"/>
              <a:t>Increase neurotransmitter activity – which and why does it matter?</a:t>
            </a:r>
          </a:p>
          <a:p>
            <a:r>
              <a:rPr lang="en-US"/>
              <a:t>Take several weeks for full effectiveness</a:t>
            </a:r>
            <a:endParaRPr lang="en-US" dirty="0"/>
          </a:p>
          <a:p>
            <a:r>
              <a:rPr lang="en-US" dirty="0"/>
              <a:t>Monitor for </a:t>
            </a:r>
            <a:r>
              <a:rPr lang="en-US"/>
              <a:t>worsening depression/suicidal thoughts especially in first few weeks of treatment</a:t>
            </a:r>
          </a:p>
          <a:p>
            <a:r>
              <a:rPr lang="en-US" dirty="0"/>
              <a:t>Do not stop </a:t>
            </a:r>
            <a:r>
              <a:rPr lang="en-US"/>
              <a:t>abruptly</a:t>
            </a:r>
          </a:p>
        </p:txBody>
      </p:sp>
    </p:spTree>
    <p:extLst>
      <p:ext uri="{BB962C8B-B14F-4D97-AF65-F5344CB8AC3E}">
        <p14:creationId xmlns:p14="http://schemas.microsoft.com/office/powerpoint/2010/main" val="122382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E006-8CB8-74D3-162C-5938AA5F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Antidepressant Differences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A66932-7CE0-D4F2-5D70-AF409A1805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44007"/>
              </p:ext>
            </p:extLst>
          </p:nvPr>
        </p:nvGraphicFramePr>
        <p:xfrm>
          <a:off x="715536" y="1821365"/>
          <a:ext cx="10632021" cy="4443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4007">
                  <a:extLst>
                    <a:ext uri="{9D8B030D-6E8A-4147-A177-3AD203B41FA5}">
                      <a16:colId xmlns:a16="http://schemas.microsoft.com/office/drawing/2014/main" val="3835956615"/>
                    </a:ext>
                  </a:extLst>
                </a:gridCol>
                <a:gridCol w="3544007">
                  <a:extLst>
                    <a:ext uri="{9D8B030D-6E8A-4147-A177-3AD203B41FA5}">
                      <a16:colId xmlns:a16="http://schemas.microsoft.com/office/drawing/2014/main" val="3720403006"/>
                    </a:ext>
                  </a:extLst>
                </a:gridCol>
                <a:gridCol w="3544007">
                  <a:extLst>
                    <a:ext uri="{9D8B030D-6E8A-4147-A177-3AD203B41FA5}">
                      <a16:colId xmlns:a16="http://schemas.microsoft.com/office/drawing/2014/main" val="3702812101"/>
                    </a:ext>
                  </a:extLst>
                </a:gridCol>
              </a:tblGrid>
              <a:tr h="740503">
                <a:tc>
                  <a:txBody>
                    <a:bodyPr/>
                    <a:lstStyle/>
                    <a:p>
                      <a:r>
                        <a:rPr lang="en-US"/>
                        <a:t>Medication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Monitor for: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188772"/>
                  </a:ext>
                </a:extLst>
              </a:tr>
              <a:tr h="740503">
                <a:tc>
                  <a:txBody>
                    <a:bodyPr/>
                    <a:lstStyle/>
                    <a:p>
                      <a:r>
                        <a:rPr lang="en-US"/>
                        <a:t>Fluoxetine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SSRI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Sexual dy</a:t>
                      </a:r>
                      <a:r>
                        <a:rPr lang="en-US"/>
                        <a:t>sfunction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Serotonin syndrome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129325"/>
                  </a:ext>
                </a:extLst>
              </a:tr>
              <a:tr h="740503">
                <a:tc>
                  <a:txBody>
                    <a:bodyPr/>
                    <a:lstStyle/>
                    <a:p>
                      <a:r>
                        <a:rPr lang="en-US" err="1"/>
                        <a:t>Venlafa</a:t>
                      </a:r>
                      <a:r>
                        <a:rPr lang="en-US"/>
                        <a:t>xine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SNRI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Hypertension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331683"/>
                  </a:ext>
                </a:extLst>
              </a:tr>
              <a:tr h="740503">
                <a:tc>
                  <a:txBody>
                    <a:bodyPr/>
                    <a:lstStyle/>
                    <a:p>
                      <a:r>
                        <a:rPr lang="en-US"/>
                        <a:t>Bupropion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NDRI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Seizures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292288"/>
                  </a:ext>
                </a:extLst>
              </a:tr>
              <a:tr h="740503">
                <a:tc>
                  <a:txBody>
                    <a:bodyPr/>
                    <a:lstStyle/>
                    <a:p>
                      <a:r>
                        <a:rPr lang="en-US"/>
                        <a:t>Amitriptyline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Anticholinergic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Cardiotoxicity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966889"/>
                  </a:ext>
                </a:extLst>
              </a:tr>
              <a:tr h="740503">
                <a:tc>
                  <a:txBody>
                    <a:bodyPr/>
                    <a:lstStyle/>
                    <a:p>
                      <a:r>
                        <a:rPr lang="en-US"/>
                        <a:t>Selegiline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Food and drug interactions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Tyramine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863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51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13948-3524-A49F-C57E-A3BDA1E69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Anxiolytics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A58C99-1A36-B86B-47F5-31AD39EF9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224950"/>
              </p:ext>
            </p:extLst>
          </p:nvPr>
        </p:nvGraphicFramePr>
        <p:xfrm>
          <a:off x="618226" y="1825924"/>
          <a:ext cx="10730528" cy="45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5264">
                  <a:extLst>
                    <a:ext uri="{9D8B030D-6E8A-4147-A177-3AD203B41FA5}">
                      <a16:colId xmlns:a16="http://schemas.microsoft.com/office/drawing/2014/main" val="3616431061"/>
                    </a:ext>
                  </a:extLst>
                </a:gridCol>
                <a:gridCol w="5365264">
                  <a:extLst>
                    <a:ext uri="{9D8B030D-6E8A-4147-A177-3AD203B41FA5}">
                      <a16:colId xmlns:a16="http://schemas.microsoft.com/office/drawing/2014/main" val="2525011496"/>
                    </a:ext>
                  </a:extLst>
                </a:gridCol>
              </a:tblGrid>
              <a:tr h="75612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Lorazepam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Buspirone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144734"/>
                  </a:ext>
                </a:extLst>
              </a:tr>
              <a:tr h="756120">
                <a:tc>
                  <a:txBody>
                    <a:bodyPr/>
                    <a:lstStyle/>
                    <a:p>
                      <a:r>
                        <a:rPr lang="en-US"/>
                        <a:t>Benzodiazepine (-pam/-lam)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5-HT1A partial  agonist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944802"/>
                  </a:ext>
                </a:extLst>
              </a:tr>
              <a:tr h="756120">
                <a:tc>
                  <a:txBody>
                    <a:bodyPr/>
                    <a:lstStyle/>
                    <a:p>
                      <a:r>
                        <a:rPr lang="en-US"/>
                        <a:t>Works quickly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Delayed onset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713153"/>
                  </a:ext>
                </a:extLst>
              </a:tr>
              <a:tr h="756120">
                <a:tc>
                  <a:txBody>
                    <a:bodyPr/>
                    <a:lstStyle/>
                    <a:p>
                      <a:r>
                        <a:rPr lang="en-US"/>
                        <a:t>Causes sedation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Minimal sedation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932474"/>
                  </a:ext>
                </a:extLst>
              </a:tr>
              <a:tr h="756120">
                <a:tc>
                  <a:txBody>
                    <a:bodyPr/>
                    <a:lstStyle/>
                    <a:p>
                      <a:r>
                        <a:rPr lang="en-US"/>
                        <a:t>Respiratory depression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Little respiratory </a:t>
                      </a:r>
                      <a:r>
                        <a:rPr lang="en-US"/>
                        <a:t>depression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559745"/>
                  </a:ext>
                </a:extLst>
              </a:tr>
              <a:tr h="756120">
                <a:tc>
                  <a:txBody>
                    <a:bodyPr/>
                    <a:lstStyle/>
                    <a:p>
                      <a:r>
                        <a:rPr lang="en-US"/>
                        <a:t>Active seizures; short term anxiety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Long term anxiety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426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82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1109-F87C-6730-5CFA-578383A1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Bipolar Disorder - </a:t>
            </a:r>
            <a:r>
              <a:rPr lang="en-US"/>
              <a:t>Lithium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A75C8-F2BB-D694-D1E6-8F1839A20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Treatment of bipolar disorder</a:t>
            </a:r>
          </a:p>
          <a:p>
            <a:r>
              <a:rPr lang="en-US" dirty="0"/>
              <a:t>Narrow therapeutic </a:t>
            </a:r>
            <a:r>
              <a:rPr lang="en-US"/>
              <a:t>index – monitor levels</a:t>
            </a:r>
            <a:endParaRPr lang="en-US" dirty="0"/>
          </a:p>
          <a:p>
            <a:r>
              <a:rPr lang="en-US"/>
              <a:t>Sodium and fluid balance</a:t>
            </a:r>
            <a:endParaRPr lang="en-US" dirty="0"/>
          </a:p>
          <a:p>
            <a:r>
              <a:rPr lang="en-US"/>
              <a:t>Risk for toxicity</a:t>
            </a:r>
          </a:p>
          <a:p>
            <a:endParaRPr lang="en-US" dirty="0"/>
          </a:p>
          <a:p>
            <a:r>
              <a:rPr lang="en-US" dirty="0"/>
              <a:t>GI + Neurologic </a:t>
            </a:r>
            <a:r>
              <a:rPr lang="en-US"/>
              <a:t>Symptoms = Think lithium toxicity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835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47F9-1BB4-F908-ACBD-8330938B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Antipsychotics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8C5322-AE8A-81EB-154A-3E1703F68C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181236"/>
              </p:ext>
            </p:extLst>
          </p:nvPr>
        </p:nvGraphicFramePr>
        <p:xfrm>
          <a:off x="696951" y="1812073"/>
          <a:ext cx="10652372" cy="4654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186">
                  <a:extLst>
                    <a:ext uri="{9D8B030D-6E8A-4147-A177-3AD203B41FA5}">
                      <a16:colId xmlns:a16="http://schemas.microsoft.com/office/drawing/2014/main" val="902823282"/>
                    </a:ext>
                  </a:extLst>
                </a:gridCol>
                <a:gridCol w="5326186">
                  <a:extLst>
                    <a:ext uri="{9D8B030D-6E8A-4147-A177-3AD203B41FA5}">
                      <a16:colId xmlns:a16="http://schemas.microsoft.com/office/drawing/2014/main" val="2804797504"/>
                    </a:ext>
                  </a:extLst>
                </a:gridCol>
              </a:tblGrid>
              <a:tr h="930951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Chlorpromazine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Risperidone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899067"/>
                  </a:ext>
                </a:extLst>
              </a:tr>
              <a:tr h="930951">
                <a:tc>
                  <a:txBody>
                    <a:bodyPr/>
                    <a:lstStyle/>
                    <a:p>
                      <a:r>
                        <a:rPr lang="en-US"/>
                        <a:t>First generation (typical)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Second generation (atypical)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456796"/>
                  </a:ext>
                </a:extLst>
              </a:tr>
              <a:tr h="930951">
                <a:tc>
                  <a:txBody>
                    <a:bodyPr/>
                    <a:lstStyle/>
                    <a:p>
                      <a:r>
                        <a:rPr lang="en-US" dirty="0"/>
                        <a:t>EPS: </a:t>
                      </a:r>
                      <a:r>
                        <a:rPr lang="en-US" err="1"/>
                        <a:t>dys</a:t>
                      </a:r>
                      <a:r>
                        <a:rPr lang="en-US" dirty="0"/>
                        <a:t>tonia (muscle spasms/contractions); restlessness, rigidity, br</a:t>
                      </a:r>
                      <a:r>
                        <a:rPr lang="en-US"/>
                        <a:t>adykinesia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EPS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199471"/>
                  </a:ext>
                </a:extLst>
              </a:tr>
              <a:tr h="930951">
                <a:tc>
                  <a:txBody>
                    <a:bodyPr/>
                    <a:lstStyle/>
                    <a:p>
                      <a:r>
                        <a:rPr lang="en-US" dirty="0"/>
                        <a:t>Tardive </a:t>
                      </a:r>
                      <a:r>
                        <a:rPr lang="en-US"/>
                        <a:t>dyskinesia-irregular, jerky movements, lip smacking, tongue rolling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Weight gain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692795"/>
                  </a:ext>
                </a:extLst>
              </a:tr>
              <a:tr h="930951">
                <a:tc>
                  <a:txBody>
                    <a:bodyPr/>
                    <a:lstStyle/>
                    <a:p>
                      <a:r>
                        <a:rPr lang="en-US" dirty="0"/>
                        <a:t>Movement </a:t>
                      </a:r>
                      <a:r>
                        <a:rPr lang="en-US"/>
                        <a:t>disorders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Metabolic syndrome-weight gain, increased cholesterol, dia</a:t>
                      </a:r>
                      <a:r>
                        <a:rPr lang="en-US"/>
                        <a:t>betes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143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49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10EC8E86061843861C955142D28CF4" ma:contentTypeVersion="9" ma:contentTypeDescription="Create a new document." ma:contentTypeScope="" ma:versionID="ee757357c89f6efe84f9cd69a80256e9">
  <xsd:schema xmlns:xsd="http://www.w3.org/2001/XMLSchema" xmlns:xs="http://www.w3.org/2001/XMLSchema" xmlns:p="http://schemas.microsoft.com/office/2006/metadata/properties" xmlns:ns2="f6894d61-f8ba-4e38-9c44-e0a731c25c6f" xmlns:ns3="1123a73e-18c8-474d-9636-4142ad0124a8" targetNamespace="http://schemas.microsoft.com/office/2006/metadata/properties" ma:root="true" ma:fieldsID="7c3c751b54bad79fb93eb03f8ff39242" ns2:_="" ns3:_="">
    <xsd:import namespace="f6894d61-f8ba-4e38-9c44-e0a731c25c6f"/>
    <xsd:import namespace="1123a73e-18c8-474d-9636-4142ad0124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894d61-f8ba-4e38-9c44-e0a731c25c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2fdbf69-eb56-44ce-81fc-1e4d5a9fd8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23a73e-18c8-474d-9636-4142ad0124a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7926ddc-da60-46bb-ad41-fa6146378fad}" ma:internalName="TaxCatchAll" ma:showField="CatchAllData" ma:web="1123a73e-18c8-474d-9636-4142ad0124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123a73e-18c8-474d-9636-4142ad0124a8" xsi:nil="true"/>
    <lcf76f155ced4ddcb4097134ff3c332f xmlns="f6894d61-f8ba-4e38-9c44-e0a731c25c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EB5EBF9-670B-4B3C-9D01-8DFA53EF37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894d61-f8ba-4e38-9c44-e0a731c25c6f"/>
    <ds:schemaRef ds:uri="1123a73e-18c8-474d-9636-4142ad0124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719BBE-620C-4AEB-9C9B-85EB625A2B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86A25D-0E49-41CC-A949-8CAF6001697E}">
  <ds:schemaRefs>
    <ds:schemaRef ds:uri="http://schemas.microsoft.com/office/2006/metadata/properties"/>
    <ds:schemaRef ds:uri="http://schemas.microsoft.com/office/infopath/2007/PartnerControls"/>
    <ds:schemaRef ds:uri="1123a73e-18c8-474d-9636-4142ad0124a8"/>
    <ds:schemaRef ds:uri="f6894d61-f8ba-4e38-9c44-e0a731c25c6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Behavioral Health In Class</vt:lpstr>
      <vt:lpstr>Active Recall</vt:lpstr>
      <vt:lpstr>Antidepressant Similarities </vt:lpstr>
      <vt:lpstr>Antidepressant Differences</vt:lpstr>
      <vt:lpstr>Anxiolytics</vt:lpstr>
      <vt:lpstr>Bipolar Disorder - Lithium</vt:lpstr>
      <vt:lpstr>Antipsychotics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231</cp:revision>
  <dcterms:created xsi:type="dcterms:W3CDTF">2026-10-22T17:58:19Z</dcterms:created>
  <dcterms:modified xsi:type="dcterms:W3CDTF">2026-10-23T13:20:15Z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0x0101008110EC8E86061843861C955142D28CF4</vt:lpwstr>
  </property>
  <property fmtid="{D5CDD505-2E9C-101B-9397-08002B2CF9AE}" pid="3" name="MediaServiceImageTags">
    <vt:lpwstr/>
  </property>
</Properties>
</file>