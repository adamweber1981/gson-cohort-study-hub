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332" r:id="rId3"/>
    <p:sldId id="334" r:id="rId4"/>
    <p:sldId id="315" r:id="rId5"/>
    <p:sldId id="311" r:id="rId6"/>
    <p:sldId id="325" r:id="rId7"/>
    <p:sldId id="327" r:id="rId8"/>
    <p:sldId id="335" r:id="rId9"/>
    <p:sldId id="331" r:id="rId10"/>
    <p:sldId id="319" r:id="rId11"/>
    <p:sldId id="324" r:id="rId12"/>
    <p:sldId id="328" r:id="rId13"/>
    <p:sldId id="329" r:id="rId14"/>
    <p:sldId id="330" r:id="rId15"/>
    <p:sldId id="320" r:id="rId16"/>
    <p:sldId id="336" r:id="rId17"/>
    <p:sldId id="333" r:id="rId18"/>
    <p:sldId id="321" r:id="rId19"/>
    <p:sldId id="299" r:id="rId20"/>
    <p:sldId id="300" r:id="rId21"/>
    <p:sldId id="301" r:id="rId22"/>
    <p:sldId id="302" r:id="rId23"/>
    <p:sldId id="313" r:id="rId24"/>
    <p:sldId id="312" r:id="rId25"/>
    <p:sldId id="322" r:id="rId26"/>
    <p:sldId id="323" r:id="rId27"/>
    <p:sldId id="326" r:id="rId28"/>
    <p:sldId id="337" r:id="rId29"/>
    <p:sldId id="339" r:id="rId30"/>
    <p:sldId id="338" r:id="rId31"/>
    <p:sldId id="340" r:id="rId32"/>
    <p:sldId id="341" r:id="rId33"/>
    <p:sldId id="342" r:id="rId34"/>
    <p:sldId id="343" r:id="rId35"/>
    <p:sldId id="314" r:id="rId36"/>
    <p:sldId id="318" r:id="rId37"/>
    <p:sldId id="344" r:id="rId38"/>
    <p:sldId id="345" r:id="rId39"/>
    <p:sldId id="316" r:id="rId40"/>
    <p:sldId id="317" r:id="rId41"/>
    <p:sldId id="346" r:id="rId42"/>
    <p:sldId id="347" r:id="rId43"/>
    <p:sldId id="348" r:id="rId44"/>
    <p:sldId id="34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3B17"/>
    <a:srgbClr val="FF2300"/>
    <a:srgbClr val="FE5100"/>
    <a:srgbClr val="FF2600"/>
    <a:srgbClr val="EB523D"/>
    <a:srgbClr val="15BBC1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70"/>
    <p:restoredTop sz="94681"/>
  </p:normalViewPr>
  <p:slideViewPr>
    <p:cSldViewPr snapToGrid="0">
      <p:cViewPr>
        <p:scale>
          <a:sx n="99" d="100"/>
          <a:sy n="99" d="100"/>
        </p:scale>
        <p:origin x="14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82D9B-D64A-3041-88EC-1040BE6FF8C6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19050-DA3B-9D43-91D7-00CF0F8C7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62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7B4E6-C55A-1553-F704-6277A2EE5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4C6DF-A538-B5FF-5BF1-5D015B88C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55FBC-00BB-35F3-2DCD-A734EA472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B, 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AE6CC-867D-AB42-5274-5C61F384C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63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99179-6D4B-33CD-70B8-D13AF7E5E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169B1-82F3-4C79-A5E9-C4A8220DF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2B7CD-7B60-7710-B9EA-EBDC4A799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F0CC7-7BE0-EF04-2BB2-9B2E7F56E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1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98AE3-FAEE-0B39-F621-5EEABDE1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90687-C569-C3D6-FED3-565F229AA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8DD4E6-DFD2-49F7-41BC-36171696F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A5C29-3F00-DF5D-F4E9-6F1D45952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04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C862D-0031-4C95-8C5C-0055CDE52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CBDC1-3354-AA40-DF42-DD0867031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4F4C61-E7D7-D9E1-D4C7-7EA9FABFC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E, A, B, D, 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8BD46-98F3-A60B-1E06-C562C6DE4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285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AD36B-EA24-21DB-7B19-11ED74948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F9BC31-6F27-18B0-9238-4E4918D22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91F94-03E6-C5B0-647C-B6ED04A34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31BC4-647B-57E4-56D2-B31CFEF88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05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03D21-E62C-B8DA-0E86-89D3EFD3E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4472DE-9733-2D5F-6A83-43F28D3C4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DCEA06-9121-0852-87FA-4C8736F33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Fibrin – hemostasis</a:t>
            </a:r>
          </a:p>
          <a:p>
            <a:r>
              <a:rPr lang="en-US" dirty="0"/>
              <a:t>Plasminogen – fibrinolysis</a:t>
            </a:r>
          </a:p>
          <a:p>
            <a:r>
              <a:rPr lang="en-US" dirty="0"/>
              <a:t>Prothrombin activator – hemostasis</a:t>
            </a:r>
          </a:p>
          <a:p>
            <a:r>
              <a:rPr lang="en-US" dirty="0"/>
              <a:t>Thrombin – hemostasis</a:t>
            </a:r>
          </a:p>
          <a:p>
            <a:r>
              <a:rPr lang="en-US" dirty="0"/>
              <a:t>Plasmin – fibrinolysis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93170-589A-FD01-587E-06ACF9553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676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73DEA-C2FE-7769-FAAE-67E3D13C2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D64E6-D150-81B4-5BDF-9B1F625E2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3C08FC-58A1-7017-6EEB-F5C70F99C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236A8-3D4D-03B6-313E-ADAE88463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69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0841-29B0-7673-07AA-D7F41B899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DAA18-5C4D-166C-C47E-CCAC8FDC1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EA001-3294-9B22-4A54-137C74361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81C01-CDE1-FD16-C7EA-FA52B9C90D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013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B14CB-BBF2-51AD-E7DB-3F2570336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464D4-7A91-B601-0F10-26F320D3D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8AC423-EB27-3CD6-63B0-3403C997D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ABDBE-9FB4-A309-FDDF-C84521ECF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901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25111-6B26-D513-DE24-0EE6F8471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A408DA-D63A-76F8-1F78-C4586E372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34F5D-1A24-43CF-9E28-76E8D45A8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A, B, 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C25C7-18A6-676A-B4A9-B29965A90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13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3238F-5D00-59E9-D2A1-111B849E0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8F97D-DF5A-ED07-2B82-7E4B89E1E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11155-E7AE-4DD8-C4B9-AAE8A80EB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6EBEF-F0B5-BF0A-1335-1097A355A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11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11266-CB0E-616F-C745-79A688390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66206-05B0-65DB-0EC2-4110D3A69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4329D-9F3E-6BFC-D85C-DC06E89C5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07E59-CBD7-6E5C-2EA6-2E7B489F2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720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9B20C-4DC6-E994-A194-565B733E4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008FD2-A7B5-7FD2-4C76-A8845987D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19BEE-317C-EED2-4DC2-29843A71B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655CD-0E7A-D5EF-C734-DDB83F0626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202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DAFF0-E695-B61B-8A56-4C42DBDA6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29B73-25E1-0534-0D2B-F00B021F9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0941E-9A81-D08A-2828-78E772F33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Iron – low MCV, low MCHC</a:t>
            </a:r>
          </a:p>
          <a:p>
            <a:r>
              <a:rPr lang="en-US" dirty="0" err="1"/>
              <a:t>Pernicioius</a:t>
            </a:r>
            <a:r>
              <a:rPr lang="en-US" dirty="0"/>
              <a:t> – high MCV</a:t>
            </a:r>
          </a:p>
          <a:p>
            <a:r>
              <a:rPr lang="en-US" dirty="0"/>
              <a:t>Aplastic – </a:t>
            </a:r>
          </a:p>
          <a:p>
            <a:r>
              <a:rPr lang="en-US" dirty="0"/>
              <a:t>Sickle cell – high MCHC</a:t>
            </a:r>
          </a:p>
          <a:p>
            <a:r>
              <a:rPr lang="en-US" dirty="0"/>
              <a:t>Thalassemia – low MCV, low MCHC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9172D-364F-2F2D-1D65-FDC4F2668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848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628EA-C7B2-C744-5CB1-7E956419D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4FBEF9-D662-F958-A553-C95A22DD5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53E09-2650-2B96-2917-AE77FAADB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7A7A0-1F0E-58A5-3861-EF202F3B3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070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C0B47-D34B-9900-95EB-A531B157B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2E0E1-27DB-2984-5D54-3609BDE03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18B4A-C33C-91E5-2F18-A845897A5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7341A-7383-381E-12AE-A032387BE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625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348A4-4ADD-B431-B358-90A7B0560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43983-9430-2BB0-5BB8-290D95531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A5535-911A-4E4F-C939-1B593D2DB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B, D, 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18C84-D51B-DF43-74CE-3DB74427C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06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D1AB0-251D-986C-5C69-823FCD4F6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B2759-F08C-EA81-D7C8-DD334DCD1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EED008-B78D-A686-DAC3-6FD6D5C85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A, 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4E39E-C357-9A6C-DEE5-34313B755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537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7294C-F7B5-8575-D612-3BB9D00A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C5C80-53CA-CAF1-EA7D-246AF7BE9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0067B-FDD0-BAF0-2CC0-0D75E359D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3DB82-8A81-4007-6D1A-AB070C271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727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7F847-9DC6-D18D-E625-AD3C55DD4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F1659-19BD-B831-AD90-E6A85330C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82F71-D791-D271-9C4F-04C772C1E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A, B, 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4F0BF-FCF9-F9EB-C20C-FE9AED974F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47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15556-6A53-8FA5-7347-E762B4B17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CE5699-D00B-9FB3-A53C-5C8B9883D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C08EC9-7537-B871-0EA0-657188677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Starts in LN – HL</a:t>
            </a:r>
          </a:p>
          <a:p>
            <a:r>
              <a:rPr lang="en-US" dirty="0"/>
              <a:t>Burkitt – NHL</a:t>
            </a:r>
          </a:p>
          <a:p>
            <a:r>
              <a:rPr lang="en-US" dirty="0"/>
              <a:t>Reed-Sternberg – HL</a:t>
            </a:r>
          </a:p>
          <a:p>
            <a:r>
              <a:rPr lang="en-US" dirty="0"/>
              <a:t>Poor humoral response – NHL</a:t>
            </a:r>
          </a:p>
          <a:p>
            <a:r>
              <a:rPr lang="en-US" dirty="0"/>
              <a:t>Pruritus - HL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D97A9-84D6-24D9-9697-FD341EA29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69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91E36-6463-3390-3A4C-144C7CC0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A6A8D-4F2C-61C4-81FB-DFE4B4CAA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E8E70-1A75-EA44-CEA8-87924B9CC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F1984-C1DD-219A-D13F-8C5ED4ACD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401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05BBA-5323-A873-31B7-721CB2DB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DB0F7-A2E6-4452-0C7D-751052C8C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A4138-BFF9-5A12-AF1E-93D9A653A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A, B, C</a:t>
            </a:r>
          </a:p>
          <a:p>
            <a:r>
              <a:rPr lang="en-US" dirty="0"/>
              <a:t>ML more than 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1BA89-89F5-F132-8E90-A6D4074FA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959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FEF9-85B7-75CF-6F5F-EFC8B151E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93417-1B23-829E-0BA9-7F9EF2EA5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0786FA-0E7B-D6B5-B2F6-88D70FC15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4122B-AAD7-A460-B2AD-AFAC0A283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981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543D0-DFEF-A951-63D0-8C21A2D87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55813-26F8-991E-511A-062DC6CAC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866DB-DEEF-AF59-DE70-191282E86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E389-B442-288F-FE25-A96CD63F4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69FDE-032C-CE4F-B0CC-4EDCB8F5E91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3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F29C1-7988-D119-541D-350EC1F6F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E591C-9DBE-32D4-181A-85C17DA19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861A9-616E-F4D1-5462-D7157B2A7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CCBC-7CC1-7F46-AD61-C29BCA4255C8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3FABB-52A4-F518-96AF-CB807311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BFDCD-0997-0D55-D54A-30D0B8EF4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B3F1-418C-8449-A720-2F3EFC1F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47DF-80E9-0D30-8080-A783FBA10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55376-0484-818C-7A33-3890730DB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45D32-5DF5-D926-E140-DA3A4C0D8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CCBC-7CC1-7F46-AD61-C29BCA4255C8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B8210-5685-5DD1-F2D7-C8982AEAF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21A59-327C-73B9-B0C5-4B4203FD6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B3F1-418C-8449-A720-2F3EFC1F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52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D1113-2AD9-794D-F00A-BEEE6747B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7E5E2-62DF-FEDD-D132-6292977BF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92991-B15D-CC61-BAF4-70DA6CEF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CCBC-7CC1-7F46-AD61-C29BCA4255C8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0C691-6B9C-5336-ED35-0D8104815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DB729-3788-DADF-7CD9-454142CA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B3F1-418C-8449-A720-2F3EFC1F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78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1698-B458-6F9E-372C-54CF9220F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651A4-717B-9DD9-7D74-420AD7A75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8E114-14F3-E597-B8AC-3EE50623E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559DA-392C-945F-1117-C8B172AC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CCBC-7CC1-7F46-AD61-C29BCA4255C8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6B42E-337E-9F69-D230-FFCAA6425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897D3-3E0A-CFA5-7DDA-6F7B5990E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B3F1-418C-8449-A720-2F3EFC1F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38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25C3-80F5-245F-431D-6BAA328A5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8F925-48EB-AC38-C320-9D18C5329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0D6E0-F62A-EE92-9EC8-064EE46B3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217B0-2106-4DAD-009B-7A8086753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940401-7859-A77C-2028-20A4CB185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AEAACD-8CEF-0496-B113-A221AB2A3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CCBC-7CC1-7F46-AD61-C29BCA4255C8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3C71B8-4D51-0C3E-E3C6-905585C41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2DA48-7650-980F-F42D-AE8FE2766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B3F1-418C-8449-A720-2F3EFC1F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0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E38F-0F96-C08E-3453-5564D8EBE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BECB94-8529-8E27-5A3B-D4F5B6E5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CCBC-7CC1-7F46-AD61-C29BCA4255C8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964DF4-41C1-772D-784D-4DB796A86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7858A-2543-3B9A-FCE1-D6C000A04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B3F1-418C-8449-A720-2F3EFC1F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15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E728F0-E0B3-581D-4A09-71DE25C49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CCBC-7CC1-7F46-AD61-C29BCA4255C8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EC3D43-BA7A-2913-DCE6-4A8F2830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7C587-CEDC-44AF-11AB-38E9E09C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B3F1-418C-8449-A720-2F3EFC1F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67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7611-3E02-7762-F319-EC0ECB3B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0FA04-2649-F19C-370D-3F0D9207A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AED177-3AF4-F15A-158A-512582044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7F7EE-EA49-F8DD-17BE-CA558CA8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CCBC-7CC1-7F46-AD61-C29BCA4255C8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35058-B54E-70DB-603A-9857BBC4E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2E260-B241-4E8E-256C-D4A60268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B3F1-418C-8449-A720-2F3EFC1F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02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2042E-353E-107F-FA4C-104CF8330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A7BD70-0AB0-B011-52F1-2CDBEBA309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5ABF0-CD46-227D-4BC0-0ECF88256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7C08E-953C-7713-F882-56D521FD5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CCBC-7CC1-7F46-AD61-C29BCA4255C8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3BD8A-A49B-8B58-5293-CB046F3F5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AEE14-0D5C-7548-E57E-A5CC6DFF4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B3F1-418C-8449-A720-2F3EFC1F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18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94DC-7E0A-D82D-22BA-4D37678BE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029A7-B477-F649-2426-249535334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B49F8-0307-C81C-BBE5-3F2AD90EA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CCBC-7CC1-7F46-AD61-C29BCA4255C8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569C4-AC48-2FCE-6959-06FCE5E65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C0BF6-73A2-9B40-FE52-E1F115905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B3F1-418C-8449-A720-2F3EFC1F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6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0DA6C2-7F34-20FB-9200-37FABF01B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2DA30-BAA1-F547-AC9D-A03EAE2BD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3AEF8-8F02-C9E6-8D85-664AF43C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FCCBC-7CC1-7F46-AD61-C29BCA4255C8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B7F13-6C6D-DC6C-B5B8-3DBFBD6A5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09F28-5861-FFE6-8537-5DFF118B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B3F1-418C-8449-A720-2F3EFC1F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64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A653AD-34FD-ADA6-630A-E0F9C7B3B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A4195-DBB5-82E8-5E10-412712A4E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16ED7-FB9E-BD75-7DB4-96228BF0C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2FCCBC-7CC1-7F46-AD61-C29BCA4255C8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81E37-858C-2151-F2B2-9975245EB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B7F86-566C-205C-9F68-350D0FF24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B3F1-418C-8449-A720-2F3EFC1F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1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Heartshaped platelets suspended in the air">
            <a:extLst>
              <a:ext uri="{FF2B5EF4-FFF2-40B4-BE49-F238E27FC236}">
                <a16:creationId xmlns:a16="http://schemas.microsoft.com/office/drawing/2014/main" id="{A976CEAF-9B25-5454-8297-AACAF97593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9" b="5177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B6160-C379-F9EE-38EC-A4987FD8B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br>
              <a:rPr lang="en-US" sz="5200" dirty="0"/>
            </a:br>
            <a:r>
              <a:rPr lang="en-US" dirty="0"/>
              <a:t>Week 6</a:t>
            </a:r>
            <a:endParaRPr lang="en-US" sz="5200" dirty="0"/>
          </a:p>
        </p:txBody>
      </p:sp>
    </p:spTree>
    <p:extLst>
      <p:ext uri="{BB962C8B-B14F-4D97-AF65-F5344CB8AC3E}">
        <p14:creationId xmlns:p14="http://schemas.microsoft.com/office/powerpoint/2010/main" val="2971777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0F5AE8-A2E2-5DC9-8002-D31F0F9A3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Blood Basics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A36DC3-001C-5605-FA5F-8E15A3D01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92994" y="1590840"/>
            <a:ext cx="5672176" cy="509522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Hematopoiesis</a:t>
            </a:r>
          </a:p>
          <a:p>
            <a:r>
              <a:rPr lang="en-US" sz="4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Erythropoiesis</a:t>
            </a:r>
          </a:p>
          <a:p>
            <a:r>
              <a:rPr lang="en-US" sz="4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RBC Labs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408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8ED4E-2838-0214-AF01-F25732F6B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oster of a diagram of blood cells&#10;&#10;AI-generated content may be incorrect.">
            <a:extLst>
              <a:ext uri="{FF2B5EF4-FFF2-40B4-BE49-F238E27FC236}">
                <a16:creationId xmlns:a16="http://schemas.microsoft.com/office/drawing/2014/main" id="{041D9C4A-9BA1-8F4B-FD8D-2DDB52BB3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5" t="27541" r="6683" b="40109"/>
          <a:stretch>
            <a:fillRect/>
          </a:stretch>
        </p:blipFill>
        <p:spPr>
          <a:xfrm>
            <a:off x="2438159" y="38292"/>
            <a:ext cx="7510072" cy="59230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2658F2-68CD-ECF6-3405-4E7AA7496579}"/>
              </a:ext>
            </a:extLst>
          </p:cNvPr>
          <p:cNvSpPr txBox="1"/>
          <p:nvPr/>
        </p:nvSpPr>
        <p:spPr>
          <a:xfrm>
            <a:off x="6376930" y="2062141"/>
            <a:ext cx="97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Myeloblast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57AC4-FA05-A057-5B4D-893E88E849C0}"/>
              </a:ext>
            </a:extLst>
          </p:cNvPr>
          <p:cNvSpPr txBox="1"/>
          <p:nvPr/>
        </p:nvSpPr>
        <p:spPr>
          <a:xfrm>
            <a:off x="4833756" y="6330723"/>
            <a:ext cx="1543174" cy="36933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Lymphocytes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5103AC7E-2331-C542-063C-62FC48E0ECFB}"/>
              </a:ext>
            </a:extLst>
          </p:cNvPr>
          <p:cNvSpPr/>
          <p:nvPr/>
        </p:nvSpPr>
        <p:spPr>
          <a:xfrm rot="5400000">
            <a:off x="5308358" y="4070494"/>
            <a:ext cx="369331" cy="4151125"/>
          </a:xfrm>
          <a:prstGeom prst="rightBrace">
            <a:avLst>
              <a:gd name="adj1" fmla="val 8333"/>
              <a:gd name="adj2" fmla="val 50796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20F0EC-071D-12D8-66DE-F87F37EAA0D0}"/>
              </a:ext>
            </a:extLst>
          </p:cNvPr>
          <p:cNvSpPr/>
          <p:nvPr/>
        </p:nvSpPr>
        <p:spPr>
          <a:xfrm>
            <a:off x="7866042" y="4939167"/>
            <a:ext cx="672029" cy="73939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AADC5F-D241-BFE4-851C-B3EC08A009F3}"/>
              </a:ext>
            </a:extLst>
          </p:cNvPr>
          <p:cNvSpPr/>
          <p:nvPr/>
        </p:nvSpPr>
        <p:spPr>
          <a:xfrm>
            <a:off x="8857561" y="5046715"/>
            <a:ext cx="771180" cy="7393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1D2038-2EDE-F7BA-096F-5F5D5678D47E}"/>
              </a:ext>
            </a:extLst>
          </p:cNvPr>
          <p:cNvSpPr txBox="1"/>
          <p:nvPr/>
        </p:nvSpPr>
        <p:spPr>
          <a:xfrm>
            <a:off x="3921071" y="5732343"/>
            <a:ext cx="111270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Lymph nodes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B9A826-A53F-8B6F-62F4-DC19A52E4F36}"/>
              </a:ext>
            </a:extLst>
          </p:cNvPr>
          <p:cNvSpPr txBox="1"/>
          <p:nvPr/>
        </p:nvSpPr>
        <p:spPr>
          <a:xfrm>
            <a:off x="3719908" y="5499725"/>
            <a:ext cx="19279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CD4 &amp; CD8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6744FF4B-D2AC-B4F3-6FE1-C3D3AD836A53}"/>
              </a:ext>
            </a:extLst>
          </p:cNvPr>
          <p:cNvSpPr/>
          <p:nvPr/>
        </p:nvSpPr>
        <p:spPr>
          <a:xfrm rot="10800000">
            <a:off x="9121966" y="473724"/>
            <a:ext cx="409856" cy="1942533"/>
          </a:xfrm>
          <a:prstGeom prst="leftBrace">
            <a:avLst>
              <a:gd name="adj1" fmla="val 8333"/>
              <a:gd name="adj2" fmla="val 49433"/>
            </a:avLst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92B76D-2AC1-359E-308E-5F32E5724C2D}"/>
              </a:ext>
            </a:extLst>
          </p:cNvPr>
          <p:cNvSpPr txBox="1"/>
          <p:nvPr/>
        </p:nvSpPr>
        <p:spPr>
          <a:xfrm>
            <a:off x="9531822" y="1260324"/>
            <a:ext cx="1496062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Bone Marrow</a:t>
            </a:r>
          </a:p>
        </p:txBody>
      </p:sp>
    </p:spTree>
    <p:extLst>
      <p:ext uri="{BB962C8B-B14F-4D97-AF65-F5344CB8AC3E}">
        <p14:creationId xmlns:p14="http://schemas.microsoft.com/office/powerpoint/2010/main" val="2950338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blood flow&#10;&#10;AI-generated content may be incorrect.">
            <a:extLst>
              <a:ext uri="{FF2B5EF4-FFF2-40B4-BE49-F238E27FC236}">
                <a16:creationId xmlns:a16="http://schemas.microsoft.com/office/drawing/2014/main" id="{F5DD4AE0-CDFE-8833-2DCE-EC27DEF3B5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7" t="20547" r="4312" b="29618"/>
          <a:stretch>
            <a:fillRect/>
          </a:stretch>
        </p:blipFill>
        <p:spPr>
          <a:xfrm>
            <a:off x="3627620" y="311044"/>
            <a:ext cx="5196590" cy="62359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0C5093-C505-3774-9B07-D7496F9C5654}"/>
              </a:ext>
            </a:extLst>
          </p:cNvPr>
          <p:cNvSpPr txBox="1"/>
          <p:nvPr/>
        </p:nvSpPr>
        <p:spPr>
          <a:xfrm>
            <a:off x="4994015" y="126378"/>
            <a:ext cx="246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Hemolysis Works</a:t>
            </a:r>
          </a:p>
        </p:txBody>
      </p:sp>
    </p:spTree>
    <p:extLst>
      <p:ext uri="{BB962C8B-B14F-4D97-AF65-F5344CB8AC3E}">
        <p14:creationId xmlns:p14="http://schemas.microsoft.com/office/powerpoint/2010/main" val="394927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icrocytic Anemia">
            <a:extLst>
              <a:ext uri="{FF2B5EF4-FFF2-40B4-BE49-F238E27FC236}">
                <a16:creationId xmlns:a16="http://schemas.microsoft.com/office/drawing/2014/main" id="{945331F3-73D7-7FC1-58F5-4E636AB17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30825" y="643467"/>
            <a:ext cx="7330350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681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95769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94E89-3F8B-1F3B-9EEB-BEB00A68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1288E-ECFD-CA5F-F41A-9E1D4920E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785" y="348915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Which of the following statements is true regarding hematopoiesis and erythropoiesis? Select all that apply.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5E30ED-82AC-3FF9-11BF-D12B427E3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62" y="2877264"/>
            <a:ext cx="10860829" cy="2436607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Hematopoiesis is the process by which only new RBCs are made.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Erythropoiesis is stimulated by the kidneys in response to hypoxia.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Erythropoietin is secreted by the bone marrow.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Hematopoiesis involves formation of RBCs, platelets, and WBCs.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196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95769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E3687-7E56-BE52-5F96-0816172FE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2F0D3-7352-7BC0-8211-B20872AF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785" y="348915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What is unconjugated bilirubin?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57C29D-FFBE-F70D-1D0C-E4BF9CD93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62" y="2877264"/>
            <a:ext cx="10860829" cy="2436607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Bilirubin that makes up bile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Bilirubin that the liver helps excrete in stool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Bilirubin that remains in the vessels and causes jaundice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Immature RBCs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492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95769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56F5C1-5342-731C-CDB4-EC34976D3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C6A85-A917-64FD-9E53-0104F2805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785" y="348915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What does MCV tell you?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2EA08B-F9EB-1B19-E508-5014C6D25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62" y="2877264"/>
            <a:ext cx="10860829" cy="2436607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Color of RBC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Hemoglobin concentration in the blood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Size of RBC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Viscosity of the blood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840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4155C20-3F0E-4576-8A0B-C345B6231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1077F-0240-59A3-0841-8E838536A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30" y="1598246"/>
            <a:ext cx="4554659" cy="50348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Hemostasis (Clotting)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3B8E7-8A21-6CEF-B2F4-23136CE01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256" y="1165837"/>
            <a:ext cx="5010506" cy="5007531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57150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Process of Hemostasis</a:t>
            </a:r>
          </a:p>
          <a:p>
            <a:pPr>
              <a:spcAft>
                <a:spcPts val="1200"/>
              </a:spcAft>
            </a:pPr>
            <a:endParaRPr lang="en-US" sz="37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Disorders of Hypercoagulability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DVT, Thrombocytosis </a:t>
            </a:r>
          </a:p>
          <a:p>
            <a:pPr lvl="1"/>
            <a:endParaRPr lang="en-US" sz="29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Disorders of Hypocoagulability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Thrombocytopenia, Von Willebrand, Hemophilia</a:t>
            </a:r>
            <a:endParaRPr lang="en-US" sz="33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21">
            <a:extLst>
              <a:ext uri="{FF2B5EF4-FFF2-40B4-BE49-F238E27FC236}">
                <a16:creationId xmlns:a16="http://schemas.microsoft.com/office/drawing/2014/main" id="{0BAEB82B-9A6B-4982-B56B-7529C6EA9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3128" y="1731109"/>
            <a:ext cx="139039" cy="136646"/>
          </a:xfrm>
          <a:custGeom>
            <a:avLst/>
            <a:gdLst>
              <a:gd name="connsiteX0" fmla="*/ 129602 w 139039"/>
              <a:gd name="connsiteY0" fmla="*/ 59048 h 136646"/>
              <a:gd name="connsiteX1" fmla="*/ 78957 w 139039"/>
              <a:gd name="connsiteY1" fmla="*/ 59048 h 136646"/>
              <a:gd name="connsiteX2" fmla="*/ 78957 w 139039"/>
              <a:gd name="connsiteY2" fmla="*/ 9275 h 136646"/>
              <a:gd name="connsiteX3" fmla="*/ 69520 w 139039"/>
              <a:gd name="connsiteY3" fmla="*/ 0 h 136646"/>
              <a:gd name="connsiteX4" fmla="*/ 60082 w 139039"/>
              <a:gd name="connsiteY4" fmla="*/ 9275 h 136646"/>
              <a:gd name="connsiteX5" fmla="*/ 60082 w 139039"/>
              <a:gd name="connsiteY5" fmla="*/ 59048 h 136646"/>
              <a:gd name="connsiteX6" fmla="*/ 9437 w 139039"/>
              <a:gd name="connsiteY6" fmla="*/ 59048 h 136646"/>
              <a:gd name="connsiteX7" fmla="*/ 0 w 139039"/>
              <a:gd name="connsiteY7" fmla="*/ 68323 h 136646"/>
              <a:gd name="connsiteX8" fmla="*/ 9437 w 139039"/>
              <a:gd name="connsiteY8" fmla="*/ 77598 h 136646"/>
              <a:gd name="connsiteX9" fmla="*/ 60082 w 139039"/>
              <a:gd name="connsiteY9" fmla="*/ 77598 h 136646"/>
              <a:gd name="connsiteX10" fmla="*/ 60082 w 139039"/>
              <a:gd name="connsiteY10" fmla="*/ 127371 h 136646"/>
              <a:gd name="connsiteX11" fmla="*/ 69520 w 139039"/>
              <a:gd name="connsiteY11" fmla="*/ 136646 h 136646"/>
              <a:gd name="connsiteX12" fmla="*/ 78957 w 139039"/>
              <a:gd name="connsiteY12" fmla="*/ 127371 h 136646"/>
              <a:gd name="connsiteX13" fmla="*/ 78957 w 139039"/>
              <a:gd name="connsiteY13" fmla="*/ 77598 h 136646"/>
              <a:gd name="connsiteX14" fmla="*/ 129602 w 139039"/>
              <a:gd name="connsiteY14" fmla="*/ 77598 h 136646"/>
              <a:gd name="connsiteX15" fmla="*/ 139039 w 139039"/>
              <a:gd name="connsiteY15" fmla="*/ 68323 h 136646"/>
              <a:gd name="connsiteX16" fmla="*/ 129602 w 139039"/>
              <a:gd name="connsiteY16" fmla="*/ 59048 h 136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6646">
                <a:moveTo>
                  <a:pt x="129602" y="59048"/>
                </a:moveTo>
                <a:lnTo>
                  <a:pt x="78957" y="59048"/>
                </a:lnTo>
                <a:lnTo>
                  <a:pt x="78957" y="9275"/>
                </a:lnTo>
                <a:cubicBezTo>
                  <a:pt x="78957" y="4152"/>
                  <a:pt x="74731" y="0"/>
                  <a:pt x="69520" y="0"/>
                </a:cubicBezTo>
                <a:cubicBezTo>
                  <a:pt x="64308" y="0"/>
                  <a:pt x="60082" y="4152"/>
                  <a:pt x="60082" y="9275"/>
                </a:cubicBezTo>
                <a:lnTo>
                  <a:pt x="60082" y="59048"/>
                </a:lnTo>
                <a:lnTo>
                  <a:pt x="9437" y="59048"/>
                </a:lnTo>
                <a:cubicBezTo>
                  <a:pt x="4225" y="59048"/>
                  <a:pt x="0" y="63201"/>
                  <a:pt x="0" y="68323"/>
                </a:cubicBezTo>
                <a:cubicBezTo>
                  <a:pt x="0" y="73445"/>
                  <a:pt x="4225" y="77598"/>
                  <a:pt x="9437" y="77598"/>
                </a:cubicBezTo>
                <a:lnTo>
                  <a:pt x="60082" y="77598"/>
                </a:lnTo>
                <a:lnTo>
                  <a:pt x="60082" y="127371"/>
                </a:lnTo>
                <a:cubicBezTo>
                  <a:pt x="60082" y="132493"/>
                  <a:pt x="64308" y="136646"/>
                  <a:pt x="69520" y="136646"/>
                </a:cubicBezTo>
                <a:cubicBezTo>
                  <a:pt x="74731" y="136646"/>
                  <a:pt x="78957" y="132493"/>
                  <a:pt x="78957" y="127371"/>
                </a:cubicBezTo>
                <a:lnTo>
                  <a:pt x="78957" y="77598"/>
                </a:lnTo>
                <a:lnTo>
                  <a:pt x="129602" y="77598"/>
                </a:lnTo>
                <a:cubicBezTo>
                  <a:pt x="134814" y="77598"/>
                  <a:pt x="139039" y="73445"/>
                  <a:pt x="139039" y="68323"/>
                </a:cubicBezTo>
                <a:cubicBezTo>
                  <a:pt x="139039" y="63201"/>
                  <a:pt x="134814" y="59048"/>
                  <a:pt x="129602" y="59048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7">
            <a:extLst>
              <a:ext uri="{FF2B5EF4-FFF2-40B4-BE49-F238E27FC236}">
                <a16:creationId xmlns:a16="http://schemas.microsoft.com/office/drawing/2014/main" id="{FC71CE45-EECF-4555-AD4B-1B3D0D5D1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1908" y="1956458"/>
            <a:ext cx="91138" cy="89570"/>
          </a:xfrm>
          <a:custGeom>
            <a:avLst/>
            <a:gdLst>
              <a:gd name="connsiteX0" fmla="*/ 91138 w 91138"/>
              <a:gd name="connsiteY0" fmla="*/ 44785 h 89570"/>
              <a:gd name="connsiteX1" fmla="*/ 45569 w 91138"/>
              <a:gd name="connsiteY1" fmla="*/ 89570 h 89570"/>
              <a:gd name="connsiteX2" fmla="*/ 0 w 91138"/>
              <a:gd name="connsiteY2" fmla="*/ 44785 h 89570"/>
              <a:gd name="connsiteX3" fmla="*/ 45569 w 91138"/>
              <a:gd name="connsiteY3" fmla="*/ 0 h 89570"/>
              <a:gd name="connsiteX4" fmla="*/ 91138 w 91138"/>
              <a:gd name="connsiteY4" fmla="*/ 44785 h 8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89570">
                <a:moveTo>
                  <a:pt x="91138" y="44785"/>
                </a:moveTo>
                <a:cubicBezTo>
                  <a:pt x="91138" y="69519"/>
                  <a:pt x="70736" y="89570"/>
                  <a:pt x="45569" y="89570"/>
                </a:cubicBezTo>
                <a:cubicBezTo>
                  <a:pt x="20402" y="89570"/>
                  <a:pt x="0" y="69519"/>
                  <a:pt x="0" y="44785"/>
                </a:cubicBezTo>
                <a:cubicBezTo>
                  <a:pt x="0" y="20051"/>
                  <a:pt x="20402" y="0"/>
                  <a:pt x="45569" y="0"/>
                </a:cubicBezTo>
                <a:cubicBezTo>
                  <a:pt x="70736" y="0"/>
                  <a:pt x="91138" y="20051"/>
                  <a:pt x="91138" y="44785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22">
            <a:extLst>
              <a:ext uri="{FF2B5EF4-FFF2-40B4-BE49-F238E27FC236}">
                <a16:creationId xmlns:a16="http://schemas.microsoft.com/office/drawing/2014/main" id="{53AA89D1-0C70-46BB-8E35-5722A4B18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7588" y="2177021"/>
            <a:ext cx="127714" cy="125516"/>
          </a:xfrm>
          <a:custGeom>
            <a:avLst/>
            <a:gdLst>
              <a:gd name="connsiteX0" fmla="*/ 63857 w 127714"/>
              <a:gd name="connsiteY0" fmla="*/ 18549 h 125516"/>
              <a:gd name="connsiteX1" fmla="*/ 108840 w 127714"/>
              <a:gd name="connsiteY1" fmla="*/ 62758 h 125516"/>
              <a:gd name="connsiteX2" fmla="*/ 63857 w 127714"/>
              <a:gd name="connsiteY2" fmla="*/ 106967 h 125516"/>
              <a:gd name="connsiteX3" fmla="*/ 18874 w 127714"/>
              <a:gd name="connsiteY3" fmla="*/ 62758 h 125516"/>
              <a:gd name="connsiteX4" fmla="*/ 63857 w 127714"/>
              <a:gd name="connsiteY4" fmla="*/ 18549 h 125516"/>
              <a:gd name="connsiteX5" fmla="*/ 63857 w 127714"/>
              <a:gd name="connsiteY5" fmla="*/ 0 h 125516"/>
              <a:gd name="connsiteX6" fmla="*/ 0 w 127714"/>
              <a:gd name="connsiteY6" fmla="*/ 62758 h 125516"/>
              <a:gd name="connsiteX7" fmla="*/ 63857 w 127714"/>
              <a:gd name="connsiteY7" fmla="*/ 125516 h 125516"/>
              <a:gd name="connsiteX8" fmla="*/ 127714 w 127714"/>
              <a:gd name="connsiteY8" fmla="*/ 62758 h 125516"/>
              <a:gd name="connsiteX9" fmla="*/ 63857 w 127714"/>
              <a:gd name="connsiteY9" fmla="*/ 0 h 125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5516">
                <a:moveTo>
                  <a:pt x="63857" y="18549"/>
                </a:moveTo>
                <a:cubicBezTo>
                  <a:pt x="88700" y="18549"/>
                  <a:pt x="108840" y="38342"/>
                  <a:pt x="108840" y="62758"/>
                </a:cubicBezTo>
                <a:cubicBezTo>
                  <a:pt x="108840" y="87174"/>
                  <a:pt x="88700" y="106967"/>
                  <a:pt x="63857" y="106967"/>
                </a:cubicBezTo>
                <a:cubicBezTo>
                  <a:pt x="39014" y="106967"/>
                  <a:pt x="18874" y="87174"/>
                  <a:pt x="18874" y="62758"/>
                </a:cubicBezTo>
                <a:cubicBezTo>
                  <a:pt x="18898" y="38352"/>
                  <a:pt x="39024" y="18573"/>
                  <a:pt x="63857" y="18549"/>
                </a:cubicBezTo>
                <a:moveTo>
                  <a:pt x="63857" y="0"/>
                </a:moveTo>
                <a:cubicBezTo>
                  <a:pt x="28590" y="0"/>
                  <a:pt x="0" y="28098"/>
                  <a:pt x="0" y="62758"/>
                </a:cubicBezTo>
                <a:cubicBezTo>
                  <a:pt x="0" y="97418"/>
                  <a:pt x="28590" y="125516"/>
                  <a:pt x="63857" y="125516"/>
                </a:cubicBezTo>
                <a:cubicBezTo>
                  <a:pt x="99124" y="125516"/>
                  <a:pt x="127714" y="97418"/>
                  <a:pt x="127714" y="62758"/>
                </a:cubicBezTo>
                <a:cubicBezTo>
                  <a:pt x="127714" y="28098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313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862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latelets and Hemostasis – Integrated Human Anatomy and Physiology Part 2  (NOT UPDATED)">
            <a:extLst>
              <a:ext uri="{FF2B5EF4-FFF2-40B4-BE49-F238E27FC236}">
                <a16:creationId xmlns:a16="http://schemas.microsoft.com/office/drawing/2014/main" id="{67FA53F9-4DC0-89F8-C5A2-61058D0D4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46126" y="710892"/>
            <a:ext cx="3899748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74F220-775F-35F0-B148-84B90D824037}"/>
              </a:ext>
            </a:extLst>
          </p:cNvPr>
          <p:cNvSpPr txBox="1"/>
          <p:nvPr/>
        </p:nvSpPr>
        <p:spPr>
          <a:xfrm>
            <a:off x="5177620" y="480060"/>
            <a:ext cx="424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Hemostasis</a:t>
            </a:r>
          </a:p>
        </p:txBody>
      </p:sp>
    </p:spTree>
    <p:extLst>
      <p:ext uri="{BB962C8B-B14F-4D97-AF65-F5344CB8AC3E}">
        <p14:creationId xmlns:p14="http://schemas.microsoft.com/office/powerpoint/2010/main" val="56852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53B17">
            <a:alpha val="54226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8C48D9-8BB2-541C-0625-B541A6E8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5DDAC-C48E-027F-D749-3AF54AB00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Put the steps of hemostasis and clot dissolution in the correct order. 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CBFB7A-B0AD-9675-343E-0595CF315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63" y="2799991"/>
            <a:ext cx="10515600" cy="3477830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Platelet plug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Coagulation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Fibrinolysis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Clot retraction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Vasoconstriction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868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53B17">
            <a:alpha val="54226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8CBAF-D7F6-B35A-38F8-E56DFFF20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76BE5-B5D7-837D-BF3C-752B3B7DD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How do small vessel breaks heal?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D8139F-630A-1F71-791E-0428F5B2E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63" y="2799991"/>
            <a:ext cx="10515600" cy="3477830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Platelet plug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Fibrinolysis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Coagulation cascade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Clot retraction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034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53B17">
            <a:alpha val="54226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7B3993-E20F-F626-18A4-5D5353996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E965A-4030-9238-9D78-7C096D7D5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Determine which coagulation proteins are found in hemostasis and fibrinolysis.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6ADA83E-1040-B857-4B48-EC8E1B97B3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8690234"/>
              </p:ext>
            </p:extLst>
          </p:nvPr>
        </p:nvGraphicFramePr>
        <p:xfrm>
          <a:off x="734752" y="3197646"/>
          <a:ext cx="10515600" cy="22250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9789345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1056800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89176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Coagulation Proteins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Hemostasis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Fibrinolysis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65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Fibrin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259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Plasminogen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470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Prothrombin activator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221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Thrombin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75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Plasmin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597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694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53B17">
            <a:alpha val="54226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F4578-9E27-F9AC-FC01-37F3E33E3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394FC-DC42-2CBE-3BFA-E35A38EA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Which part of hemostasis involves the fibrin meshwork?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EF9821-F4B4-6034-E55F-0CCE3E0B5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752" y="2954538"/>
            <a:ext cx="10515600" cy="3477830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Platelet plug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Fibrinolysis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Coagulation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Clot retraction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494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cute DVT Treatment | Vascular Institute of The Rockies">
            <a:extLst>
              <a:ext uri="{FF2B5EF4-FFF2-40B4-BE49-F238E27FC236}">
                <a16:creationId xmlns:a16="http://schemas.microsoft.com/office/drawing/2014/main" id="{069EAB76-4A08-7A34-39A2-863F466CC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95138" y="643467"/>
            <a:ext cx="3788324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re You at Risk for DVT? - Vein Specialists of the Carolinas">
            <a:extLst>
              <a:ext uri="{FF2B5EF4-FFF2-40B4-BE49-F238E27FC236}">
                <a16:creationId xmlns:a16="http://schemas.microsoft.com/office/drawing/2014/main" id="{4C01B7D1-1D90-3629-A35A-7C46CE4D8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13549" y="643467"/>
            <a:ext cx="4178299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8848E1-5290-810E-7E75-076EB965CC92}"/>
              </a:ext>
            </a:extLst>
          </p:cNvPr>
          <p:cNvSpPr txBox="1"/>
          <p:nvPr/>
        </p:nvSpPr>
        <p:spPr>
          <a:xfrm>
            <a:off x="5378452" y="181802"/>
            <a:ext cx="3390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DVT</a:t>
            </a:r>
          </a:p>
        </p:txBody>
      </p:sp>
    </p:spTree>
    <p:extLst>
      <p:ext uri="{BB962C8B-B14F-4D97-AF65-F5344CB8AC3E}">
        <p14:creationId xmlns:p14="http://schemas.microsoft.com/office/powerpoint/2010/main" val="3461422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4155C20-3F0E-4576-8A0B-C345B6231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44B37D-496A-4D10-5AD5-1A802DCB3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30" y="1598246"/>
            <a:ext cx="4554659" cy="50348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Anemia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0A749-341D-2A63-2CE4-A46593127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9972" y="1114322"/>
            <a:ext cx="5010506" cy="5007531"/>
          </a:xfrm>
        </p:spPr>
        <p:txBody>
          <a:bodyPr vert="horz" lIns="91440" tIns="45720" rIns="91440" bIns="45720" rtlCol="0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1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Hemolytic Anemias </a:t>
            </a:r>
            <a:endParaRPr lang="en-US" sz="4100" dirty="0">
              <a:solidFill>
                <a:srgbClr val="FFFFFF"/>
              </a:solidFill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Sickle Cell, Thalassemia</a:t>
            </a:r>
          </a:p>
          <a:p>
            <a:pPr lvl="1"/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1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Nutrient Problems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Iron Deficiency, Megaloblastic/Pernicious</a:t>
            </a:r>
          </a:p>
          <a:p>
            <a:pPr lvl="1"/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1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Aplastic Anemia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21">
            <a:extLst>
              <a:ext uri="{FF2B5EF4-FFF2-40B4-BE49-F238E27FC236}">
                <a16:creationId xmlns:a16="http://schemas.microsoft.com/office/drawing/2014/main" id="{0BAEB82B-9A6B-4982-B56B-7529C6EA9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3128" y="1731109"/>
            <a:ext cx="139039" cy="136646"/>
          </a:xfrm>
          <a:custGeom>
            <a:avLst/>
            <a:gdLst>
              <a:gd name="connsiteX0" fmla="*/ 129602 w 139039"/>
              <a:gd name="connsiteY0" fmla="*/ 59048 h 136646"/>
              <a:gd name="connsiteX1" fmla="*/ 78957 w 139039"/>
              <a:gd name="connsiteY1" fmla="*/ 59048 h 136646"/>
              <a:gd name="connsiteX2" fmla="*/ 78957 w 139039"/>
              <a:gd name="connsiteY2" fmla="*/ 9275 h 136646"/>
              <a:gd name="connsiteX3" fmla="*/ 69520 w 139039"/>
              <a:gd name="connsiteY3" fmla="*/ 0 h 136646"/>
              <a:gd name="connsiteX4" fmla="*/ 60082 w 139039"/>
              <a:gd name="connsiteY4" fmla="*/ 9275 h 136646"/>
              <a:gd name="connsiteX5" fmla="*/ 60082 w 139039"/>
              <a:gd name="connsiteY5" fmla="*/ 59048 h 136646"/>
              <a:gd name="connsiteX6" fmla="*/ 9437 w 139039"/>
              <a:gd name="connsiteY6" fmla="*/ 59048 h 136646"/>
              <a:gd name="connsiteX7" fmla="*/ 0 w 139039"/>
              <a:gd name="connsiteY7" fmla="*/ 68323 h 136646"/>
              <a:gd name="connsiteX8" fmla="*/ 9437 w 139039"/>
              <a:gd name="connsiteY8" fmla="*/ 77598 h 136646"/>
              <a:gd name="connsiteX9" fmla="*/ 60082 w 139039"/>
              <a:gd name="connsiteY9" fmla="*/ 77598 h 136646"/>
              <a:gd name="connsiteX10" fmla="*/ 60082 w 139039"/>
              <a:gd name="connsiteY10" fmla="*/ 127371 h 136646"/>
              <a:gd name="connsiteX11" fmla="*/ 69520 w 139039"/>
              <a:gd name="connsiteY11" fmla="*/ 136646 h 136646"/>
              <a:gd name="connsiteX12" fmla="*/ 78957 w 139039"/>
              <a:gd name="connsiteY12" fmla="*/ 127371 h 136646"/>
              <a:gd name="connsiteX13" fmla="*/ 78957 w 139039"/>
              <a:gd name="connsiteY13" fmla="*/ 77598 h 136646"/>
              <a:gd name="connsiteX14" fmla="*/ 129602 w 139039"/>
              <a:gd name="connsiteY14" fmla="*/ 77598 h 136646"/>
              <a:gd name="connsiteX15" fmla="*/ 139039 w 139039"/>
              <a:gd name="connsiteY15" fmla="*/ 68323 h 136646"/>
              <a:gd name="connsiteX16" fmla="*/ 129602 w 139039"/>
              <a:gd name="connsiteY16" fmla="*/ 59048 h 136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6646">
                <a:moveTo>
                  <a:pt x="129602" y="59048"/>
                </a:moveTo>
                <a:lnTo>
                  <a:pt x="78957" y="59048"/>
                </a:lnTo>
                <a:lnTo>
                  <a:pt x="78957" y="9275"/>
                </a:lnTo>
                <a:cubicBezTo>
                  <a:pt x="78957" y="4152"/>
                  <a:pt x="74731" y="0"/>
                  <a:pt x="69520" y="0"/>
                </a:cubicBezTo>
                <a:cubicBezTo>
                  <a:pt x="64308" y="0"/>
                  <a:pt x="60082" y="4152"/>
                  <a:pt x="60082" y="9275"/>
                </a:cubicBezTo>
                <a:lnTo>
                  <a:pt x="60082" y="59048"/>
                </a:lnTo>
                <a:lnTo>
                  <a:pt x="9437" y="59048"/>
                </a:lnTo>
                <a:cubicBezTo>
                  <a:pt x="4225" y="59048"/>
                  <a:pt x="0" y="63201"/>
                  <a:pt x="0" y="68323"/>
                </a:cubicBezTo>
                <a:cubicBezTo>
                  <a:pt x="0" y="73445"/>
                  <a:pt x="4225" y="77598"/>
                  <a:pt x="9437" y="77598"/>
                </a:cubicBezTo>
                <a:lnTo>
                  <a:pt x="60082" y="77598"/>
                </a:lnTo>
                <a:lnTo>
                  <a:pt x="60082" y="127371"/>
                </a:lnTo>
                <a:cubicBezTo>
                  <a:pt x="60082" y="132493"/>
                  <a:pt x="64308" y="136646"/>
                  <a:pt x="69520" y="136646"/>
                </a:cubicBezTo>
                <a:cubicBezTo>
                  <a:pt x="74731" y="136646"/>
                  <a:pt x="78957" y="132493"/>
                  <a:pt x="78957" y="127371"/>
                </a:cubicBezTo>
                <a:lnTo>
                  <a:pt x="78957" y="77598"/>
                </a:lnTo>
                <a:lnTo>
                  <a:pt x="129602" y="77598"/>
                </a:lnTo>
                <a:cubicBezTo>
                  <a:pt x="134814" y="77598"/>
                  <a:pt x="139039" y="73445"/>
                  <a:pt x="139039" y="68323"/>
                </a:cubicBezTo>
                <a:cubicBezTo>
                  <a:pt x="139039" y="63201"/>
                  <a:pt x="134814" y="59048"/>
                  <a:pt x="129602" y="59048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7">
            <a:extLst>
              <a:ext uri="{FF2B5EF4-FFF2-40B4-BE49-F238E27FC236}">
                <a16:creationId xmlns:a16="http://schemas.microsoft.com/office/drawing/2014/main" id="{FC71CE45-EECF-4555-AD4B-1B3D0D5D1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1908" y="1956458"/>
            <a:ext cx="91138" cy="89570"/>
          </a:xfrm>
          <a:custGeom>
            <a:avLst/>
            <a:gdLst>
              <a:gd name="connsiteX0" fmla="*/ 91138 w 91138"/>
              <a:gd name="connsiteY0" fmla="*/ 44785 h 89570"/>
              <a:gd name="connsiteX1" fmla="*/ 45569 w 91138"/>
              <a:gd name="connsiteY1" fmla="*/ 89570 h 89570"/>
              <a:gd name="connsiteX2" fmla="*/ 0 w 91138"/>
              <a:gd name="connsiteY2" fmla="*/ 44785 h 89570"/>
              <a:gd name="connsiteX3" fmla="*/ 45569 w 91138"/>
              <a:gd name="connsiteY3" fmla="*/ 0 h 89570"/>
              <a:gd name="connsiteX4" fmla="*/ 91138 w 91138"/>
              <a:gd name="connsiteY4" fmla="*/ 44785 h 8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89570">
                <a:moveTo>
                  <a:pt x="91138" y="44785"/>
                </a:moveTo>
                <a:cubicBezTo>
                  <a:pt x="91138" y="69519"/>
                  <a:pt x="70736" y="89570"/>
                  <a:pt x="45569" y="89570"/>
                </a:cubicBezTo>
                <a:cubicBezTo>
                  <a:pt x="20402" y="89570"/>
                  <a:pt x="0" y="69519"/>
                  <a:pt x="0" y="44785"/>
                </a:cubicBezTo>
                <a:cubicBezTo>
                  <a:pt x="0" y="20051"/>
                  <a:pt x="20402" y="0"/>
                  <a:pt x="45569" y="0"/>
                </a:cubicBezTo>
                <a:cubicBezTo>
                  <a:pt x="70736" y="0"/>
                  <a:pt x="91138" y="20051"/>
                  <a:pt x="91138" y="44785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22">
            <a:extLst>
              <a:ext uri="{FF2B5EF4-FFF2-40B4-BE49-F238E27FC236}">
                <a16:creationId xmlns:a16="http://schemas.microsoft.com/office/drawing/2014/main" id="{53AA89D1-0C70-46BB-8E35-5722A4B18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7588" y="2177021"/>
            <a:ext cx="127714" cy="125516"/>
          </a:xfrm>
          <a:custGeom>
            <a:avLst/>
            <a:gdLst>
              <a:gd name="connsiteX0" fmla="*/ 63857 w 127714"/>
              <a:gd name="connsiteY0" fmla="*/ 18549 h 125516"/>
              <a:gd name="connsiteX1" fmla="*/ 108840 w 127714"/>
              <a:gd name="connsiteY1" fmla="*/ 62758 h 125516"/>
              <a:gd name="connsiteX2" fmla="*/ 63857 w 127714"/>
              <a:gd name="connsiteY2" fmla="*/ 106967 h 125516"/>
              <a:gd name="connsiteX3" fmla="*/ 18874 w 127714"/>
              <a:gd name="connsiteY3" fmla="*/ 62758 h 125516"/>
              <a:gd name="connsiteX4" fmla="*/ 63857 w 127714"/>
              <a:gd name="connsiteY4" fmla="*/ 18549 h 125516"/>
              <a:gd name="connsiteX5" fmla="*/ 63857 w 127714"/>
              <a:gd name="connsiteY5" fmla="*/ 0 h 125516"/>
              <a:gd name="connsiteX6" fmla="*/ 0 w 127714"/>
              <a:gd name="connsiteY6" fmla="*/ 62758 h 125516"/>
              <a:gd name="connsiteX7" fmla="*/ 63857 w 127714"/>
              <a:gd name="connsiteY7" fmla="*/ 125516 h 125516"/>
              <a:gd name="connsiteX8" fmla="*/ 127714 w 127714"/>
              <a:gd name="connsiteY8" fmla="*/ 62758 h 125516"/>
              <a:gd name="connsiteX9" fmla="*/ 63857 w 127714"/>
              <a:gd name="connsiteY9" fmla="*/ 0 h 125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5516">
                <a:moveTo>
                  <a:pt x="63857" y="18549"/>
                </a:moveTo>
                <a:cubicBezTo>
                  <a:pt x="88700" y="18549"/>
                  <a:pt x="108840" y="38342"/>
                  <a:pt x="108840" y="62758"/>
                </a:cubicBezTo>
                <a:cubicBezTo>
                  <a:pt x="108840" y="87174"/>
                  <a:pt x="88700" y="106967"/>
                  <a:pt x="63857" y="106967"/>
                </a:cubicBezTo>
                <a:cubicBezTo>
                  <a:pt x="39014" y="106967"/>
                  <a:pt x="18874" y="87174"/>
                  <a:pt x="18874" y="62758"/>
                </a:cubicBezTo>
                <a:cubicBezTo>
                  <a:pt x="18898" y="38352"/>
                  <a:pt x="39024" y="18573"/>
                  <a:pt x="63857" y="18549"/>
                </a:cubicBezTo>
                <a:moveTo>
                  <a:pt x="63857" y="0"/>
                </a:moveTo>
                <a:cubicBezTo>
                  <a:pt x="28590" y="0"/>
                  <a:pt x="0" y="28098"/>
                  <a:pt x="0" y="62758"/>
                </a:cubicBezTo>
                <a:cubicBezTo>
                  <a:pt x="0" y="97418"/>
                  <a:pt x="28590" y="125516"/>
                  <a:pt x="63857" y="125516"/>
                </a:cubicBezTo>
                <a:cubicBezTo>
                  <a:pt x="99124" y="125516"/>
                  <a:pt x="127714" y="97418"/>
                  <a:pt x="127714" y="62758"/>
                </a:cubicBezTo>
                <a:cubicBezTo>
                  <a:pt x="127714" y="28098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028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118EB-51C3-3E27-B6FB-2B30BA6D9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icrocytic Anemia">
            <a:extLst>
              <a:ext uri="{FF2B5EF4-FFF2-40B4-BE49-F238E27FC236}">
                <a16:creationId xmlns:a16="http://schemas.microsoft.com/office/drawing/2014/main" id="{896285EB-1A30-24C9-15C1-8A7D6E49F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30825" y="643467"/>
            <a:ext cx="7330350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5483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3D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Acute and chronic complications of sickle cell disease in various body... |  Download Scientific Diagram">
            <a:extLst>
              <a:ext uri="{FF2B5EF4-FFF2-40B4-BE49-F238E27FC236}">
                <a16:creationId xmlns:a16="http://schemas.microsoft.com/office/drawing/2014/main" id="{8872A661-2D52-135F-B546-FEA24F76D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22644" y="643467"/>
            <a:ext cx="3509771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BB776A-5834-E01F-D581-00DC1D1682E8}"/>
              </a:ext>
            </a:extLst>
          </p:cNvPr>
          <p:cNvSpPr txBox="1"/>
          <p:nvPr/>
        </p:nvSpPr>
        <p:spPr>
          <a:xfrm>
            <a:off x="4244594" y="643467"/>
            <a:ext cx="435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Sickle Cell Anemia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E460F-E8DB-D4F7-F3A9-FB262FC06B26}"/>
              </a:ext>
            </a:extLst>
          </p:cNvPr>
          <p:cNvSpPr txBox="1"/>
          <p:nvPr/>
        </p:nvSpPr>
        <p:spPr>
          <a:xfrm>
            <a:off x="1361313" y="2183825"/>
            <a:ext cx="3972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GROUP ACTIVITY! </a:t>
            </a:r>
            <a:r>
              <a:rPr lang="en-US" sz="3200" dirty="0">
                <a:sym typeface="Wingdings" pitchFamily="2" charset="2"/>
              </a:rPr>
              <a:t>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56874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23D">
            <a:alpha val="63137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5FB0D-306A-087A-30E0-E017F28A0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6B56-5564-0CE9-4EB7-31BA9221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10653578" cy="2436607"/>
          </a:xfrm>
        </p:spPr>
        <p:txBody>
          <a:bodyPr/>
          <a:lstStyle/>
          <a:p>
            <a:r>
              <a:rPr lang="en-US" dirty="0"/>
              <a:t>What are the manifestations of general anemia?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6C756-EC80-4335-CC31-661378A56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8421" y="2610603"/>
            <a:ext cx="10653579" cy="3315985"/>
          </a:xfrm>
        </p:spPr>
        <p:txBody>
          <a:bodyPr numCol="1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3200" dirty="0"/>
              <a:t>Erythema, tachypnea, hypertension, dyspnea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Petechiae, dyspnea, pain, ecchymosis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Pallor, fatigue, dyspnea, tachycardia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Cyanosis, dyspnea, confusion, chest pain </a:t>
            </a:r>
          </a:p>
        </p:txBody>
      </p:sp>
    </p:spTree>
    <p:extLst>
      <p:ext uri="{BB962C8B-B14F-4D97-AF65-F5344CB8AC3E}">
        <p14:creationId xmlns:p14="http://schemas.microsoft.com/office/powerpoint/2010/main" val="4210346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23D">
            <a:alpha val="63137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9EFAE0-73AD-2F65-6B56-FC67BC6ED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4814C-ED58-F83F-78A3-12AE9D531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10653578" cy="2436607"/>
          </a:xfrm>
        </p:spPr>
        <p:txBody>
          <a:bodyPr>
            <a:normAutofit fontScale="90000"/>
          </a:bodyPr>
          <a:lstStyle/>
          <a:p>
            <a:r>
              <a:rPr lang="en-US" dirty="0"/>
              <a:t>A patient presents with severe pain over multiple areas of the body, pallor, weakness, dyspnea, tachycardia, jaundice, and splenomegaly. Which anemia does the nurse suspect?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A65EF-F032-11DE-4895-5BAF4607D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23" y="3184761"/>
            <a:ext cx="10653579" cy="3315985"/>
          </a:xfrm>
        </p:spPr>
        <p:txBody>
          <a:bodyPr numCol="1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3200" dirty="0"/>
              <a:t>Iron deficiency anemia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Pernicious anemia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Aplastic anemia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Sickle cell anemia</a:t>
            </a:r>
          </a:p>
        </p:txBody>
      </p:sp>
    </p:spTree>
    <p:extLst>
      <p:ext uri="{BB962C8B-B14F-4D97-AF65-F5344CB8AC3E}">
        <p14:creationId xmlns:p14="http://schemas.microsoft.com/office/powerpoint/2010/main" val="1943181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23D">
            <a:alpha val="63137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42180-D760-455C-60D1-57AA145AD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41518-02AF-687A-6201-9F644856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10653578" cy="2436607"/>
          </a:xfrm>
        </p:spPr>
        <p:txBody>
          <a:bodyPr>
            <a:normAutofit/>
          </a:bodyPr>
          <a:lstStyle/>
          <a:p>
            <a:r>
              <a:rPr lang="en-US" dirty="0"/>
              <a:t>Which patients are most at risk for iron deficiency anemia? Select all that apply.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CED51-9C2F-4EEE-5512-647316C35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23" y="3184761"/>
            <a:ext cx="10653579" cy="3315985"/>
          </a:xfrm>
        </p:spPr>
        <p:txBody>
          <a:bodyPr numCol="1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3200" dirty="0"/>
              <a:t>A patient with heavy menstruation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A patient with chronic stomach ulcers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A patient on radiation and chemotherapy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A patient with a diet low in iron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A patient with an abnormal inherited gene</a:t>
            </a:r>
          </a:p>
        </p:txBody>
      </p:sp>
    </p:spTree>
    <p:extLst>
      <p:ext uri="{BB962C8B-B14F-4D97-AF65-F5344CB8AC3E}">
        <p14:creationId xmlns:p14="http://schemas.microsoft.com/office/powerpoint/2010/main" val="3033734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23D">
            <a:alpha val="63137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740C9-CD52-D0E8-B291-E92808A40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A8232-29D3-461B-FB4D-2699D672F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10653578" cy="2436607"/>
          </a:xfrm>
        </p:spPr>
        <p:txBody>
          <a:bodyPr>
            <a:normAutofit fontScale="90000"/>
          </a:bodyPr>
          <a:lstStyle/>
          <a:p>
            <a:r>
              <a:rPr lang="en-US" dirty="0"/>
              <a:t>A nurse is educating a patient about their new diagnosis of pernicious anemia. Which of the following statements by the patient is incorrect?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A96A-C4A6-B8EB-E5E5-875B3263B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605" y="3184761"/>
            <a:ext cx="10852297" cy="3315985"/>
          </a:xfrm>
        </p:spPr>
        <p:txBody>
          <a:bodyPr numCol="1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3200" dirty="0"/>
              <a:t>“My recent gastric surgery and chronic gastritis caused this.”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“My symptoms may include numbness and tingling, nausea, diarrhea, and a red swollen tongue.”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“The lack of intrinsic factor causes a large immature RBC.”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“My poor dietary habit is what caused this.”</a:t>
            </a:r>
          </a:p>
        </p:txBody>
      </p:sp>
    </p:spTree>
    <p:extLst>
      <p:ext uri="{BB962C8B-B14F-4D97-AF65-F5344CB8AC3E}">
        <p14:creationId xmlns:p14="http://schemas.microsoft.com/office/powerpoint/2010/main" val="2164846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23D">
            <a:alpha val="63137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2E1E3D-7F88-EA48-D4A7-EB6D2DB1F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D915-6B52-19B0-5D14-5B7A16B5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What is a potential complication of sickle cell anemia?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DCB3A-5B13-67F5-8CCA-ED322928E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605" y="3184761"/>
            <a:ext cx="10852297" cy="3315985"/>
          </a:xfrm>
        </p:spPr>
        <p:txBody>
          <a:bodyPr numCol="1"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 sz="3200" dirty="0"/>
              <a:t>Vaso-occlusive crisis 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Bone marrow failure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Dehydration 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3200" dirty="0"/>
              <a:t>Impaired digestion 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4384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23D">
            <a:alpha val="63137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DFF852-D110-5BEB-F7A0-5691E4D56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D2BB2-8D0E-AD2D-9F30-0B529B081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Which type of anemia is macrocytic and normochromic? 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8E8687-79E4-3C5E-E71C-DEC76C4AB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2262" y="2864386"/>
            <a:ext cx="10515600" cy="3477830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Iron deficiency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Thalassemia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Sickle cell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Pernicious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4623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23D">
            <a:alpha val="63137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086DD6-D67F-DAEE-A858-104D24761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E52E4-2425-277D-2065-1E031B62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Determine if there is high or low MCV and MCHC in each of the following anemias.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C7F95D-A8C8-2DE7-9381-353571DB4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752" y="2724686"/>
            <a:ext cx="10515600" cy="3477830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CDB0EF-78A0-01EB-1080-0C5DB347A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792189"/>
              </p:ext>
            </p:extLst>
          </p:nvPr>
        </p:nvGraphicFramePr>
        <p:xfrm>
          <a:off x="734752" y="2724686"/>
          <a:ext cx="9485050" cy="309191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97010">
                  <a:extLst>
                    <a:ext uri="{9D8B030D-6E8A-4147-A177-3AD203B41FA5}">
                      <a16:colId xmlns:a16="http://schemas.microsoft.com/office/drawing/2014/main" val="97622424"/>
                    </a:ext>
                  </a:extLst>
                </a:gridCol>
                <a:gridCol w="1897010">
                  <a:extLst>
                    <a:ext uri="{9D8B030D-6E8A-4147-A177-3AD203B41FA5}">
                      <a16:colId xmlns:a16="http://schemas.microsoft.com/office/drawing/2014/main" val="1687191711"/>
                    </a:ext>
                  </a:extLst>
                </a:gridCol>
                <a:gridCol w="1897010">
                  <a:extLst>
                    <a:ext uri="{9D8B030D-6E8A-4147-A177-3AD203B41FA5}">
                      <a16:colId xmlns:a16="http://schemas.microsoft.com/office/drawing/2014/main" val="4018349234"/>
                    </a:ext>
                  </a:extLst>
                </a:gridCol>
                <a:gridCol w="1897010">
                  <a:extLst>
                    <a:ext uri="{9D8B030D-6E8A-4147-A177-3AD203B41FA5}">
                      <a16:colId xmlns:a16="http://schemas.microsoft.com/office/drawing/2014/main" val="602628344"/>
                    </a:ext>
                  </a:extLst>
                </a:gridCol>
                <a:gridCol w="1897010">
                  <a:extLst>
                    <a:ext uri="{9D8B030D-6E8A-4147-A177-3AD203B41FA5}">
                      <a16:colId xmlns:a16="http://schemas.microsoft.com/office/drawing/2014/main" val="1902954456"/>
                    </a:ext>
                  </a:extLst>
                </a:gridCol>
              </a:tblGrid>
              <a:tr h="5153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Anemia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High 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Low MCV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High MCHC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Low MCHC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605568"/>
                  </a:ext>
                </a:extLst>
              </a:tr>
              <a:tr h="5153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Iron Deficiency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1145"/>
                  </a:ext>
                </a:extLst>
              </a:tr>
              <a:tr h="5153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Pernicious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746877"/>
                  </a:ext>
                </a:extLst>
              </a:tr>
              <a:tr h="5153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Aplastic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769423"/>
                  </a:ext>
                </a:extLst>
              </a:tr>
              <a:tr h="5153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Sickle Cell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94394"/>
                  </a:ext>
                </a:extLst>
              </a:tr>
              <a:tr h="51531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Thalassemia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835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8787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23D">
            <a:alpha val="63137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68B2B-BEFE-5912-BC1A-D25F4C36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D00C-BBDF-1DBC-90FE-C2679A031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What is the pathophysiological process of how anemia causes jaundice?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66A04E-F74E-734B-92A3-58141E247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63" y="2799991"/>
            <a:ext cx="10515600" cy="3477830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The liver has decreased perfusion and cannot conjugate bilirubin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There is increased breakdown of RBCs in iron deficiency anemia, which causes increased bilirubin in the blood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Hemolytic anemia results in unconjugated bilirubin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spleen is infiltrated with sickled cells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3649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23D">
            <a:alpha val="63137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13348-8C26-10AD-EB39-405C40F6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1F12B-103E-0485-1A86-25578D0B9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Which of the following statements is true of hemolytic anemias?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6E9A16-0BC5-C0EF-CABB-11AAF42D8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63" y="2799991"/>
            <a:ext cx="10515600" cy="3477830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Aplastic anemia is a form of hemolytic anemia.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Sickle cell and thalassemia are both genetic disorders.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Hemolytic anemias do not cause iron overload and subsequent hepatomegaly. 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Hemolytic anemias are caused by massive hemorrhage.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912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1BA646-A9CA-E9CD-6EF6-70900742E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Nursing Blood Things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3CA12-C1F4-A520-9A4B-FB2B0A414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92994" y="1590840"/>
            <a:ext cx="5672176" cy="5095221"/>
          </a:xfrm>
        </p:spPr>
        <p:txBody>
          <a:bodyPr vert="horz" lIns="91440" tIns="45720" rIns="91440" bIns="45720" rtlCol="0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Blood Typing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Transfusions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Transfusion Reactions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83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red and white text&#10;&#10;AI-generated content may be incorrect.">
            <a:extLst>
              <a:ext uri="{FF2B5EF4-FFF2-40B4-BE49-F238E27FC236}">
                <a16:creationId xmlns:a16="http://schemas.microsoft.com/office/drawing/2014/main" id="{DE1953B8-8F65-3C81-EDF9-1A9F47867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92" y="1417621"/>
            <a:ext cx="10797016" cy="402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963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red text and white text&#10;&#10;AI-generated content may be incorrect.">
            <a:extLst>
              <a:ext uri="{FF2B5EF4-FFF2-40B4-BE49-F238E27FC236}">
                <a16:creationId xmlns:a16="http://schemas.microsoft.com/office/drawing/2014/main" id="{D7A051E1-BE1B-2800-2031-F401D4803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030" y="1139673"/>
            <a:ext cx="9349939" cy="457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427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46693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38A7E-1B1D-07BF-2F17-8021B748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E427E-4570-B2C5-FA1F-3CC4671A0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Which blood products can a patient with AB negative (AB-) blood receive? Select all that apply.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EE4749-FFF5-2FD9-0C04-0FC132C42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54655"/>
            <a:ext cx="10515600" cy="2145380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400" dirty="0"/>
              <a:t>O+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O-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A+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B-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AB+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AB- </a:t>
            </a:r>
            <a:br>
              <a:rPr lang="en-US" sz="34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757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46693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740C0-423B-6DF1-4868-DF16E6DF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C3F20-5AA4-141D-8145-3B24AC44E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Which blood products can a patient with </a:t>
            </a:r>
            <a:br>
              <a:rPr lang="en-US" dirty="0"/>
            </a:br>
            <a:r>
              <a:rPr lang="en-US" dirty="0"/>
              <a:t>O positive (O+) blood receive? Select all that apply.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CDB17E-51B6-B97B-A53A-08FFDB014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54655"/>
            <a:ext cx="10515600" cy="2145380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400" dirty="0"/>
              <a:t>O+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O-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A+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B-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AB+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AB- </a:t>
            </a:r>
            <a:br>
              <a:rPr lang="en-US" sz="34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378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>
            <a:alpha val="46693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FB9AFD-2BB8-D18C-69B2-C0B8CD21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D986-9833-356D-CDF0-EE4349CDC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Which of the following are potential blood transfusion reactions? Select all that apply.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06FCF7-35FE-4810-2030-40346C773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626" y="2645561"/>
            <a:ext cx="10515600" cy="3626449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400" dirty="0"/>
              <a:t>Allergic reaction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Hemolytic reaction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Febrile reaction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TACO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TRALI</a:t>
            </a:r>
            <a:br>
              <a:rPr lang="en-US" sz="34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1023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2DB30-5A71-0DE2-962C-3E76EB32A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10" y="1598246"/>
            <a:ext cx="4626709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WBC Disorders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EEFAD-AF2C-9B5D-D707-0F139A488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3573" y="1127201"/>
            <a:ext cx="5672176" cy="5095221"/>
          </a:xfrm>
        </p:spPr>
        <p:txBody>
          <a:bodyPr vert="horz" lIns="91440" tIns="45720" rIns="91440" bIns="45720" rtlCol="0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Leukopenia</a:t>
            </a:r>
          </a:p>
          <a:p>
            <a:endParaRPr lang="en-US" sz="4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Mononucleosis </a:t>
            </a:r>
          </a:p>
          <a:p>
            <a:endParaRPr lang="en-US" sz="4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Proliferative Disorders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Lymphomas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Leukemias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sz="4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endParaRPr lang="en-US" sz="4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endParaRPr lang="en-US" sz="4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9106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oster of a diagram of blood cells&#10;&#10;AI-generated content may be incorrect.">
            <a:extLst>
              <a:ext uri="{FF2B5EF4-FFF2-40B4-BE49-F238E27FC236}">
                <a16:creationId xmlns:a16="http://schemas.microsoft.com/office/drawing/2014/main" id="{E73DE2A3-CFC9-EDF3-F60B-1398904896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5" t="27541" r="6683" b="40109"/>
          <a:stretch>
            <a:fillRect/>
          </a:stretch>
        </p:blipFill>
        <p:spPr>
          <a:xfrm>
            <a:off x="2438159" y="38292"/>
            <a:ext cx="7510072" cy="59230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2EF020-9EB9-678E-2B36-9183F58BE0BA}"/>
              </a:ext>
            </a:extLst>
          </p:cNvPr>
          <p:cNvSpPr txBox="1"/>
          <p:nvPr/>
        </p:nvSpPr>
        <p:spPr>
          <a:xfrm>
            <a:off x="6376930" y="2062141"/>
            <a:ext cx="97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Myeloblast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84215-E69F-A1CD-3935-9474C4E5FF2D}"/>
              </a:ext>
            </a:extLst>
          </p:cNvPr>
          <p:cNvSpPr txBox="1"/>
          <p:nvPr/>
        </p:nvSpPr>
        <p:spPr>
          <a:xfrm>
            <a:off x="4833756" y="6330723"/>
            <a:ext cx="1543174" cy="36933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Lymphocytes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81EF268A-A609-9794-56C7-41B8F57F83B9}"/>
              </a:ext>
            </a:extLst>
          </p:cNvPr>
          <p:cNvSpPr/>
          <p:nvPr/>
        </p:nvSpPr>
        <p:spPr>
          <a:xfrm rot="5400000">
            <a:off x="5308358" y="4070494"/>
            <a:ext cx="369331" cy="4151125"/>
          </a:xfrm>
          <a:prstGeom prst="rightBrace">
            <a:avLst>
              <a:gd name="adj1" fmla="val 8333"/>
              <a:gd name="adj2" fmla="val 50796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47B791-BDD4-5DFB-D5E6-96B7B497A530}"/>
              </a:ext>
            </a:extLst>
          </p:cNvPr>
          <p:cNvSpPr/>
          <p:nvPr/>
        </p:nvSpPr>
        <p:spPr>
          <a:xfrm>
            <a:off x="7866042" y="4939167"/>
            <a:ext cx="672029" cy="73939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87B654-E65C-B3A5-A511-290601EE2719}"/>
              </a:ext>
            </a:extLst>
          </p:cNvPr>
          <p:cNvSpPr/>
          <p:nvPr/>
        </p:nvSpPr>
        <p:spPr>
          <a:xfrm>
            <a:off x="8857561" y="5046715"/>
            <a:ext cx="771180" cy="7393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A4EBEA-2534-B30A-5664-7BD5F6C83261}"/>
              </a:ext>
            </a:extLst>
          </p:cNvPr>
          <p:cNvSpPr txBox="1"/>
          <p:nvPr/>
        </p:nvSpPr>
        <p:spPr>
          <a:xfrm>
            <a:off x="3921071" y="5732343"/>
            <a:ext cx="111270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Lymph nodes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56443-B7A6-EAA7-4832-5E4246864B61}"/>
              </a:ext>
            </a:extLst>
          </p:cNvPr>
          <p:cNvSpPr txBox="1"/>
          <p:nvPr/>
        </p:nvSpPr>
        <p:spPr>
          <a:xfrm>
            <a:off x="3719908" y="5499725"/>
            <a:ext cx="19279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CD4 &amp; CD8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F1C37554-8AF8-7B89-1599-648A9AD515DC}"/>
              </a:ext>
            </a:extLst>
          </p:cNvPr>
          <p:cNvSpPr/>
          <p:nvPr/>
        </p:nvSpPr>
        <p:spPr>
          <a:xfrm rot="10800000">
            <a:off x="9121966" y="473724"/>
            <a:ext cx="409856" cy="1942533"/>
          </a:xfrm>
          <a:prstGeom prst="leftBrace">
            <a:avLst>
              <a:gd name="adj1" fmla="val 8333"/>
              <a:gd name="adj2" fmla="val 49433"/>
            </a:avLst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CECE05-E4FA-83E4-1C72-3581592475CE}"/>
              </a:ext>
            </a:extLst>
          </p:cNvPr>
          <p:cNvSpPr txBox="1"/>
          <p:nvPr/>
        </p:nvSpPr>
        <p:spPr>
          <a:xfrm>
            <a:off x="9531822" y="1260324"/>
            <a:ext cx="1496062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Bone Marrow</a:t>
            </a:r>
          </a:p>
        </p:txBody>
      </p:sp>
    </p:spTree>
    <p:extLst>
      <p:ext uri="{BB962C8B-B14F-4D97-AF65-F5344CB8AC3E}">
        <p14:creationId xmlns:p14="http://schemas.microsoft.com/office/powerpoint/2010/main" val="38563548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23945-46FC-497A-0046-835A365D5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oster of a diagram of blood cells&#10;&#10;AI-generated content may be incorrect.">
            <a:extLst>
              <a:ext uri="{FF2B5EF4-FFF2-40B4-BE49-F238E27FC236}">
                <a16:creationId xmlns:a16="http://schemas.microsoft.com/office/drawing/2014/main" id="{8B9C542D-7FBA-9E67-91FF-9A0CD44083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5" t="27541" r="6683" b="40109"/>
          <a:stretch>
            <a:fillRect/>
          </a:stretch>
        </p:blipFill>
        <p:spPr>
          <a:xfrm>
            <a:off x="2438159" y="38292"/>
            <a:ext cx="7510072" cy="59230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E49320-EDAB-45EE-63B4-027063EF5080}"/>
              </a:ext>
            </a:extLst>
          </p:cNvPr>
          <p:cNvSpPr txBox="1"/>
          <p:nvPr/>
        </p:nvSpPr>
        <p:spPr>
          <a:xfrm>
            <a:off x="6376930" y="2062141"/>
            <a:ext cx="97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Myeloblast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D0EE73-20B2-BC4B-6569-935421F67862}"/>
              </a:ext>
            </a:extLst>
          </p:cNvPr>
          <p:cNvSpPr txBox="1"/>
          <p:nvPr/>
        </p:nvSpPr>
        <p:spPr>
          <a:xfrm>
            <a:off x="4833756" y="6330723"/>
            <a:ext cx="1543174" cy="36933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Lymphocytes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C55B9054-B0E6-80C9-9DCE-0AAC41BAFB8F}"/>
              </a:ext>
            </a:extLst>
          </p:cNvPr>
          <p:cNvSpPr/>
          <p:nvPr/>
        </p:nvSpPr>
        <p:spPr>
          <a:xfrm rot="5400000">
            <a:off x="5308358" y="4070494"/>
            <a:ext cx="369331" cy="4151125"/>
          </a:xfrm>
          <a:prstGeom prst="rightBrace">
            <a:avLst>
              <a:gd name="adj1" fmla="val 8333"/>
              <a:gd name="adj2" fmla="val 50796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2AF831-75EF-9FF5-8F34-29D71110BF94}"/>
              </a:ext>
            </a:extLst>
          </p:cNvPr>
          <p:cNvSpPr/>
          <p:nvPr/>
        </p:nvSpPr>
        <p:spPr>
          <a:xfrm>
            <a:off x="7866042" y="4939167"/>
            <a:ext cx="672029" cy="73939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0F4514-BD82-5C0A-EC66-08E5385312CF}"/>
              </a:ext>
            </a:extLst>
          </p:cNvPr>
          <p:cNvSpPr/>
          <p:nvPr/>
        </p:nvSpPr>
        <p:spPr>
          <a:xfrm>
            <a:off x="8857561" y="5046715"/>
            <a:ext cx="771180" cy="7393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1EBD4F-5370-721D-8E3C-F3B4F671397A}"/>
              </a:ext>
            </a:extLst>
          </p:cNvPr>
          <p:cNvSpPr txBox="1"/>
          <p:nvPr/>
        </p:nvSpPr>
        <p:spPr>
          <a:xfrm>
            <a:off x="3921071" y="5732343"/>
            <a:ext cx="111270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Lymph nodes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D6300A-2D17-7C46-6794-24544F920A26}"/>
              </a:ext>
            </a:extLst>
          </p:cNvPr>
          <p:cNvSpPr txBox="1"/>
          <p:nvPr/>
        </p:nvSpPr>
        <p:spPr>
          <a:xfrm>
            <a:off x="3719908" y="5499725"/>
            <a:ext cx="19279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CD4 &amp; CD8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446711AB-13A9-41DC-28B6-AE2BA0003AD6}"/>
              </a:ext>
            </a:extLst>
          </p:cNvPr>
          <p:cNvSpPr/>
          <p:nvPr/>
        </p:nvSpPr>
        <p:spPr>
          <a:xfrm rot="10800000">
            <a:off x="9121966" y="473724"/>
            <a:ext cx="409856" cy="1942533"/>
          </a:xfrm>
          <a:prstGeom prst="leftBrace">
            <a:avLst>
              <a:gd name="adj1" fmla="val 8333"/>
              <a:gd name="adj2" fmla="val 49433"/>
            </a:avLst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CCFCAB-4820-354F-3756-61322753952E}"/>
              </a:ext>
            </a:extLst>
          </p:cNvPr>
          <p:cNvSpPr txBox="1"/>
          <p:nvPr/>
        </p:nvSpPr>
        <p:spPr>
          <a:xfrm>
            <a:off x="9531822" y="1260324"/>
            <a:ext cx="1496062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Bone Marrow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7B76CF8-9DFE-C2DE-CA0C-D8C06A8EB2A4}"/>
              </a:ext>
            </a:extLst>
          </p:cNvPr>
          <p:cNvSpPr/>
          <p:nvPr/>
        </p:nvSpPr>
        <p:spPr>
          <a:xfrm>
            <a:off x="2973343" y="3659007"/>
            <a:ext cx="2519680" cy="2560320"/>
          </a:xfrm>
          <a:prstGeom prst="ellipse">
            <a:avLst/>
          </a:prstGeom>
          <a:solidFill>
            <a:srgbClr val="00FDFF">
              <a:alpha val="29804"/>
            </a:srgbClr>
          </a:solidFill>
          <a:ln>
            <a:solidFill>
              <a:srgbClr val="15BB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3174F8-869D-B0E3-6573-29068F837DF2}"/>
              </a:ext>
            </a:extLst>
          </p:cNvPr>
          <p:cNvSpPr txBox="1"/>
          <p:nvPr/>
        </p:nvSpPr>
        <p:spPr>
          <a:xfrm>
            <a:off x="2812047" y="4025368"/>
            <a:ext cx="1209040" cy="369332"/>
          </a:xfrm>
          <a:prstGeom prst="rect">
            <a:avLst/>
          </a:prstGeom>
          <a:solidFill>
            <a:srgbClr val="00FDFF"/>
          </a:solidFill>
          <a:ln w="19050">
            <a:solidFill>
              <a:srgbClr val="15BBC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NHL &amp; HL</a:t>
            </a:r>
          </a:p>
        </p:txBody>
      </p:sp>
    </p:spTree>
    <p:extLst>
      <p:ext uri="{BB962C8B-B14F-4D97-AF65-F5344CB8AC3E}">
        <p14:creationId xmlns:p14="http://schemas.microsoft.com/office/powerpoint/2010/main" val="39886445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  <a:alpha val="67803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F09B0-5876-B366-E0AD-0B9301729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C2B8-EA63-4D73-72A3-685C889B5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Which of the following lymphocytes can be affected by lymphoma? Select all that apply.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8FAE07-5DF2-8FC3-E503-A1C171924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626" y="2645561"/>
            <a:ext cx="10515600" cy="3626449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400" dirty="0"/>
              <a:t>B cells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T cells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NK cells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Macrophages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Neutrophils </a:t>
            </a:r>
            <a:br>
              <a:rPr lang="en-US" sz="34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8169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  <a:alpha val="68461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512A7-C80C-6DD8-96FC-361C85C39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70FAE-2BF0-31D0-A8C1-637B6EB18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Select whether the following manifestations are associated with Non-Hodgkin or Hodgkin lymphoma. 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90DF47-C7D3-9C3D-0233-7D09B4F4E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626" y="2645561"/>
            <a:ext cx="10515600" cy="3626449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br>
              <a:rPr lang="en-US" sz="3400" dirty="0"/>
            </a:b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07A145-D93F-6BE8-C6E4-FAF19A67A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286957"/>
              </p:ext>
            </p:extLst>
          </p:nvPr>
        </p:nvGraphicFramePr>
        <p:xfrm>
          <a:off x="1323662" y="2958396"/>
          <a:ext cx="8812011" cy="30007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937337">
                  <a:extLst>
                    <a:ext uri="{9D8B030D-6E8A-4147-A177-3AD203B41FA5}">
                      <a16:colId xmlns:a16="http://schemas.microsoft.com/office/drawing/2014/main" val="107438893"/>
                    </a:ext>
                  </a:extLst>
                </a:gridCol>
                <a:gridCol w="2937337">
                  <a:extLst>
                    <a:ext uri="{9D8B030D-6E8A-4147-A177-3AD203B41FA5}">
                      <a16:colId xmlns:a16="http://schemas.microsoft.com/office/drawing/2014/main" val="3565055240"/>
                    </a:ext>
                  </a:extLst>
                </a:gridCol>
                <a:gridCol w="2937337">
                  <a:extLst>
                    <a:ext uri="{9D8B030D-6E8A-4147-A177-3AD203B41FA5}">
                      <a16:colId xmlns:a16="http://schemas.microsoft.com/office/drawing/2014/main" val="94523931"/>
                    </a:ext>
                  </a:extLst>
                </a:gridCol>
              </a:tblGrid>
              <a:tr h="7385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Manifestation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NHL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414624"/>
                  </a:ext>
                </a:extLst>
              </a:tr>
              <a:tr h="4524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Starts in lymph nodes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877193"/>
                  </a:ext>
                </a:extLst>
              </a:tr>
              <a:tr h="4524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Burkitt lymphoma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572358"/>
                  </a:ext>
                </a:extLst>
              </a:tr>
              <a:tr h="4524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Reed-Sternberg cells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7738320"/>
                  </a:ext>
                </a:extLst>
              </a:tr>
              <a:tr h="4524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Poor humoral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611071"/>
                  </a:ext>
                </a:extLst>
              </a:tr>
              <a:tr h="4524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Pruritus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9660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6278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8BB27-5569-BB2D-31A7-2F5B7A847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oster of a diagram of blood cells&#10;&#10;AI-generated content may be incorrect.">
            <a:extLst>
              <a:ext uri="{FF2B5EF4-FFF2-40B4-BE49-F238E27FC236}">
                <a16:creationId xmlns:a16="http://schemas.microsoft.com/office/drawing/2014/main" id="{F56A5CB6-63BC-4C9A-052C-28A07D8C19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5" t="27541" r="6683" b="40109"/>
          <a:stretch>
            <a:fillRect/>
          </a:stretch>
        </p:blipFill>
        <p:spPr>
          <a:xfrm>
            <a:off x="2438159" y="38292"/>
            <a:ext cx="7510072" cy="59230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F2AF1E-93A5-54DC-1677-50FF8E14BBB3}"/>
              </a:ext>
            </a:extLst>
          </p:cNvPr>
          <p:cNvSpPr txBox="1"/>
          <p:nvPr/>
        </p:nvSpPr>
        <p:spPr>
          <a:xfrm>
            <a:off x="6376930" y="2062141"/>
            <a:ext cx="97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Myeloblast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EB563-3892-5700-AC1D-820CECD1A985}"/>
              </a:ext>
            </a:extLst>
          </p:cNvPr>
          <p:cNvSpPr txBox="1"/>
          <p:nvPr/>
        </p:nvSpPr>
        <p:spPr>
          <a:xfrm>
            <a:off x="4833756" y="6330723"/>
            <a:ext cx="1543174" cy="36933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Lymphocytes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48F9DDBD-771C-DD07-B311-3F0EBE065849}"/>
              </a:ext>
            </a:extLst>
          </p:cNvPr>
          <p:cNvSpPr/>
          <p:nvPr/>
        </p:nvSpPr>
        <p:spPr>
          <a:xfrm rot="5400000">
            <a:off x="5308358" y="4070494"/>
            <a:ext cx="369331" cy="4151125"/>
          </a:xfrm>
          <a:prstGeom prst="rightBrace">
            <a:avLst>
              <a:gd name="adj1" fmla="val 8333"/>
              <a:gd name="adj2" fmla="val 50796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846F83-5CC1-03FA-F289-44298418A5E3}"/>
              </a:ext>
            </a:extLst>
          </p:cNvPr>
          <p:cNvSpPr/>
          <p:nvPr/>
        </p:nvSpPr>
        <p:spPr>
          <a:xfrm>
            <a:off x="7866042" y="4939167"/>
            <a:ext cx="672029" cy="73939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8FA644-02D9-5038-76D3-3CF04B75D97D}"/>
              </a:ext>
            </a:extLst>
          </p:cNvPr>
          <p:cNvSpPr/>
          <p:nvPr/>
        </p:nvSpPr>
        <p:spPr>
          <a:xfrm>
            <a:off x="8857561" y="5046715"/>
            <a:ext cx="771180" cy="7393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F5C6AE-8371-D1A4-6CB7-6BD87CBD89D7}"/>
              </a:ext>
            </a:extLst>
          </p:cNvPr>
          <p:cNvSpPr txBox="1"/>
          <p:nvPr/>
        </p:nvSpPr>
        <p:spPr>
          <a:xfrm>
            <a:off x="3921071" y="5732343"/>
            <a:ext cx="111270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Lymph nodes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971504-BBC5-3A4E-B8E0-9A49333534D0}"/>
              </a:ext>
            </a:extLst>
          </p:cNvPr>
          <p:cNvSpPr txBox="1"/>
          <p:nvPr/>
        </p:nvSpPr>
        <p:spPr>
          <a:xfrm>
            <a:off x="3719908" y="5499725"/>
            <a:ext cx="19279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CD4 &amp; CD8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6128E74C-4A73-F693-0F44-E1FE71C8DB65}"/>
              </a:ext>
            </a:extLst>
          </p:cNvPr>
          <p:cNvSpPr/>
          <p:nvPr/>
        </p:nvSpPr>
        <p:spPr>
          <a:xfrm rot="10800000">
            <a:off x="9121966" y="473724"/>
            <a:ext cx="409856" cy="1942533"/>
          </a:xfrm>
          <a:prstGeom prst="leftBrace">
            <a:avLst>
              <a:gd name="adj1" fmla="val 8333"/>
              <a:gd name="adj2" fmla="val 49433"/>
            </a:avLst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520718-7774-F49A-508B-429D1173A518}"/>
              </a:ext>
            </a:extLst>
          </p:cNvPr>
          <p:cNvSpPr txBox="1"/>
          <p:nvPr/>
        </p:nvSpPr>
        <p:spPr>
          <a:xfrm>
            <a:off x="9531822" y="1260324"/>
            <a:ext cx="1496062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Bone Marrow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45E1737-4290-91D6-5999-55F2A96D36ED}"/>
              </a:ext>
            </a:extLst>
          </p:cNvPr>
          <p:cNvSpPr/>
          <p:nvPr/>
        </p:nvSpPr>
        <p:spPr>
          <a:xfrm>
            <a:off x="5647860" y="1075118"/>
            <a:ext cx="2218182" cy="739395"/>
          </a:xfrm>
          <a:prstGeom prst="ellipse">
            <a:avLst/>
          </a:prstGeom>
          <a:solidFill>
            <a:schemeClr val="accent6">
              <a:alpha val="31000"/>
            </a:schemeClr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07CCD1E-6EFB-DBA5-39DA-D79D7E130DB7}"/>
              </a:ext>
            </a:extLst>
          </p:cNvPr>
          <p:cNvSpPr/>
          <p:nvPr/>
        </p:nvSpPr>
        <p:spPr>
          <a:xfrm>
            <a:off x="3513447" y="2416257"/>
            <a:ext cx="1927952" cy="1012743"/>
          </a:xfrm>
          <a:prstGeom prst="ellipse">
            <a:avLst/>
          </a:prstGeom>
          <a:solidFill>
            <a:schemeClr val="accent6">
              <a:alpha val="9000"/>
            </a:schemeClr>
          </a:solidFill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7CD3C2-5BA2-60AE-50B5-EF39314C017A}"/>
              </a:ext>
            </a:extLst>
          </p:cNvPr>
          <p:cNvSpPr txBox="1"/>
          <p:nvPr/>
        </p:nvSpPr>
        <p:spPr>
          <a:xfrm>
            <a:off x="7061734" y="889417"/>
            <a:ext cx="664283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AML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16A0BF-6B00-4342-D75A-F8285AD13593}"/>
              </a:ext>
            </a:extLst>
          </p:cNvPr>
          <p:cNvSpPr txBox="1"/>
          <p:nvPr/>
        </p:nvSpPr>
        <p:spPr>
          <a:xfrm>
            <a:off x="4210904" y="2185424"/>
            <a:ext cx="622852" cy="36933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ALL</a:t>
            </a:r>
          </a:p>
        </p:txBody>
      </p:sp>
    </p:spTree>
    <p:extLst>
      <p:ext uri="{BB962C8B-B14F-4D97-AF65-F5344CB8AC3E}">
        <p14:creationId xmlns:p14="http://schemas.microsoft.com/office/powerpoint/2010/main" val="33698201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E2D01-FD2E-3E2A-D827-1080FE61A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oster of a diagram of blood cells&#10;&#10;AI-generated content may be incorrect.">
            <a:extLst>
              <a:ext uri="{FF2B5EF4-FFF2-40B4-BE49-F238E27FC236}">
                <a16:creationId xmlns:a16="http://schemas.microsoft.com/office/drawing/2014/main" id="{59C0569F-5C83-1A3C-011A-F123F8C879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5" t="27541" r="6683" b="40109"/>
          <a:stretch>
            <a:fillRect/>
          </a:stretch>
        </p:blipFill>
        <p:spPr>
          <a:xfrm>
            <a:off x="2438159" y="38292"/>
            <a:ext cx="7510072" cy="59230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8A83AF-3325-DCAA-883E-76C6318E30EC}"/>
              </a:ext>
            </a:extLst>
          </p:cNvPr>
          <p:cNvSpPr txBox="1"/>
          <p:nvPr/>
        </p:nvSpPr>
        <p:spPr>
          <a:xfrm>
            <a:off x="6376930" y="2062141"/>
            <a:ext cx="97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Myeloblast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D3D6DE-D287-638E-3A57-36A027B421CE}"/>
              </a:ext>
            </a:extLst>
          </p:cNvPr>
          <p:cNvSpPr txBox="1"/>
          <p:nvPr/>
        </p:nvSpPr>
        <p:spPr>
          <a:xfrm>
            <a:off x="4833756" y="6330723"/>
            <a:ext cx="1543174" cy="36933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Lymphocytes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45C5A3D9-1771-8090-50AC-697C2CCB24D0}"/>
              </a:ext>
            </a:extLst>
          </p:cNvPr>
          <p:cNvSpPr/>
          <p:nvPr/>
        </p:nvSpPr>
        <p:spPr>
          <a:xfrm rot="5400000">
            <a:off x="5308358" y="4070494"/>
            <a:ext cx="369331" cy="4151125"/>
          </a:xfrm>
          <a:prstGeom prst="rightBrace">
            <a:avLst>
              <a:gd name="adj1" fmla="val 8333"/>
              <a:gd name="adj2" fmla="val 50796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FFB3C1-06AC-4D2A-8F22-14EC2F254428}"/>
              </a:ext>
            </a:extLst>
          </p:cNvPr>
          <p:cNvSpPr/>
          <p:nvPr/>
        </p:nvSpPr>
        <p:spPr>
          <a:xfrm>
            <a:off x="7866042" y="4939167"/>
            <a:ext cx="672029" cy="73939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F12BB1-B8A6-5012-D3F7-1A6796539070}"/>
              </a:ext>
            </a:extLst>
          </p:cNvPr>
          <p:cNvSpPr/>
          <p:nvPr/>
        </p:nvSpPr>
        <p:spPr>
          <a:xfrm>
            <a:off x="8857561" y="5046715"/>
            <a:ext cx="771180" cy="7393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E59C64-0870-6BC4-8B90-56E4CB8C67AE}"/>
              </a:ext>
            </a:extLst>
          </p:cNvPr>
          <p:cNvSpPr txBox="1"/>
          <p:nvPr/>
        </p:nvSpPr>
        <p:spPr>
          <a:xfrm>
            <a:off x="3921071" y="5732343"/>
            <a:ext cx="111270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Lymph nodes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8E1637-5ED1-12F3-C386-EC6AF55AC132}"/>
              </a:ext>
            </a:extLst>
          </p:cNvPr>
          <p:cNvSpPr txBox="1"/>
          <p:nvPr/>
        </p:nvSpPr>
        <p:spPr>
          <a:xfrm>
            <a:off x="3719908" y="5499725"/>
            <a:ext cx="19279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CD4 &amp; CD8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8AC77DEF-EF4D-6015-303C-069E6E6FD59B}"/>
              </a:ext>
            </a:extLst>
          </p:cNvPr>
          <p:cNvSpPr/>
          <p:nvPr/>
        </p:nvSpPr>
        <p:spPr>
          <a:xfrm rot="10800000">
            <a:off x="9121966" y="473724"/>
            <a:ext cx="409856" cy="1942533"/>
          </a:xfrm>
          <a:prstGeom prst="leftBrace">
            <a:avLst>
              <a:gd name="adj1" fmla="val 8333"/>
              <a:gd name="adj2" fmla="val 49433"/>
            </a:avLst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14C19F-554D-54EA-6821-1B3514D146A7}"/>
              </a:ext>
            </a:extLst>
          </p:cNvPr>
          <p:cNvSpPr txBox="1"/>
          <p:nvPr/>
        </p:nvSpPr>
        <p:spPr>
          <a:xfrm>
            <a:off x="9531822" y="1260324"/>
            <a:ext cx="1496062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Bone Marrow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C0FEB40-BA59-B524-49FA-9EFFD065050A}"/>
              </a:ext>
            </a:extLst>
          </p:cNvPr>
          <p:cNvSpPr/>
          <p:nvPr/>
        </p:nvSpPr>
        <p:spPr>
          <a:xfrm>
            <a:off x="5499100" y="190500"/>
            <a:ext cx="2366942" cy="850900"/>
          </a:xfrm>
          <a:prstGeom prst="ellipse">
            <a:avLst/>
          </a:prstGeom>
          <a:solidFill>
            <a:schemeClr val="accent4">
              <a:alpha val="4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27FE75-519C-134D-8E06-42F09FEDC7B5}"/>
              </a:ext>
            </a:extLst>
          </p:cNvPr>
          <p:cNvSpPr/>
          <p:nvPr/>
        </p:nvSpPr>
        <p:spPr>
          <a:xfrm>
            <a:off x="4382906" y="2422919"/>
            <a:ext cx="901700" cy="847643"/>
          </a:xfrm>
          <a:prstGeom prst="ellipse">
            <a:avLst/>
          </a:prstGeom>
          <a:solidFill>
            <a:schemeClr val="accent4">
              <a:alpha val="19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75A262-C16D-408F-5978-56B975D3F22C}"/>
              </a:ext>
            </a:extLst>
          </p:cNvPr>
          <p:cNvSpPr txBox="1"/>
          <p:nvPr/>
        </p:nvSpPr>
        <p:spPr>
          <a:xfrm>
            <a:off x="6997886" y="760776"/>
            <a:ext cx="698499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CML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81EF68-11DB-19CD-C8E6-C2D9474C7B24}"/>
              </a:ext>
            </a:extLst>
          </p:cNvPr>
          <p:cNvSpPr txBox="1"/>
          <p:nvPr/>
        </p:nvSpPr>
        <p:spPr>
          <a:xfrm>
            <a:off x="4778009" y="2154474"/>
            <a:ext cx="647306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CLL</a:t>
            </a:r>
          </a:p>
        </p:txBody>
      </p:sp>
    </p:spTree>
    <p:extLst>
      <p:ext uri="{BB962C8B-B14F-4D97-AF65-F5344CB8AC3E}">
        <p14:creationId xmlns:p14="http://schemas.microsoft.com/office/powerpoint/2010/main" val="27261523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  <a:alpha val="6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0304BB-3F4D-4908-CA47-DBD1DEE33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4CA5-562C-9F3D-2B2E-D7ABCF45D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Which type of leukemia is most common in children?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1F3D2F-6090-F927-F45C-3D16982C0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626" y="2645561"/>
            <a:ext cx="10515600" cy="3626449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400" dirty="0"/>
              <a:t>AML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ALL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CML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CLL</a:t>
            </a:r>
            <a:br>
              <a:rPr lang="en-US" sz="34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2883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  <a:alpha val="6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2A5225-6FE5-AA0C-2E95-8E3637F8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9C03-4833-749C-0936-EF64E9C5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Which types of leukemia are most associated with </a:t>
            </a:r>
            <a:r>
              <a:rPr lang="en-US" dirty="0" err="1"/>
              <a:t>leukostasis</a:t>
            </a:r>
            <a:r>
              <a:rPr lang="en-US" dirty="0"/>
              <a:t>? Select all that apply.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8DB353-99BB-7175-4740-0A406B9F7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626" y="2645561"/>
            <a:ext cx="10515600" cy="3626449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400" dirty="0"/>
              <a:t>AML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ALL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CML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CLL</a:t>
            </a:r>
            <a:br>
              <a:rPr lang="en-US" sz="34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4079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  <a:alpha val="6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6D3FD-9A97-177E-3F78-5C477920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E8F58-55FA-1F11-C20E-94917B73B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Which type of leukemia is a disorder of the pluripotent stem cells?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66A3E3-34D7-966E-1E68-AB779012F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626" y="2645561"/>
            <a:ext cx="10515600" cy="3626449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400" dirty="0"/>
              <a:t>AML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ALL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CML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CLL</a:t>
            </a:r>
            <a:br>
              <a:rPr lang="en-US" sz="34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0001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  <a:alpha val="6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03C43-62C9-E6DD-5124-146525485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8FF3-5C5E-C1DF-F4FA-48ED6F08A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74" y="761039"/>
            <a:ext cx="10653578" cy="2436607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Which types of leukemia suppress proliferation of all other types of blood cells? Select all that apply.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BAB679-BCE9-E1EE-FB4A-A628BFDCC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626" y="2645561"/>
            <a:ext cx="10515600" cy="3626449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sz="3400" dirty="0"/>
              <a:t>AML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ALL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CML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400" dirty="0"/>
              <a:t>CLL</a:t>
            </a:r>
            <a:br>
              <a:rPr lang="en-US" sz="34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675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2182</TotalTime>
  <Words>1060</Words>
  <Application>Microsoft Macintosh PowerPoint</Application>
  <PresentationFormat>Widescreen</PresentationFormat>
  <Paragraphs>282</Paragraphs>
  <Slides>44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Aptos Display</vt:lpstr>
      <vt:lpstr>Arial</vt:lpstr>
      <vt:lpstr>Wingdings</vt:lpstr>
      <vt:lpstr>Office Theme</vt:lpstr>
      <vt:lpstr> Week 6</vt:lpstr>
      <vt:lpstr>Blood Basics</vt:lpstr>
      <vt:lpstr>PowerPoint Presentation</vt:lpstr>
      <vt:lpstr>PowerPoint Presentation</vt:lpstr>
      <vt:lpstr>PowerPoint Presentation</vt:lpstr>
      <vt:lpstr>Which of the following statements is true regarding hematopoiesis and erythropoiesis? Select all that apply.</vt:lpstr>
      <vt:lpstr>What is unconjugated bilirubin?</vt:lpstr>
      <vt:lpstr>What does MCV tell you?</vt:lpstr>
      <vt:lpstr>Hemostasis (Clotting) </vt:lpstr>
      <vt:lpstr>PowerPoint Presentation</vt:lpstr>
      <vt:lpstr>Put the steps of hemostasis and clot dissolution in the correct order.  </vt:lpstr>
      <vt:lpstr>How do small vessel breaks heal? </vt:lpstr>
      <vt:lpstr>Determine which coagulation proteins are found in hemostasis and fibrinolysis.</vt:lpstr>
      <vt:lpstr>Which part of hemostasis involves the fibrin meshwork?</vt:lpstr>
      <vt:lpstr>PowerPoint Presentation</vt:lpstr>
      <vt:lpstr>Anemia</vt:lpstr>
      <vt:lpstr>PowerPoint Presentation</vt:lpstr>
      <vt:lpstr>PowerPoint Presentation</vt:lpstr>
      <vt:lpstr>What are the manifestations of general anemia?</vt:lpstr>
      <vt:lpstr>A patient presents with severe pain over multiple areas of the body, pallor, weakness, dyspnea, tachycardia, jaundice, and splenomegaly. Which anemia does the nurse suspect?</vt:lpstr>
      <vt:lpstr>Which patients are most at risk for iron deficiency anemia? Select all that apply. </vt:lpstr>
      <vt:lpstr>A nurse is educating a patient about their new diagnosis of pernicious anemia. Which of the following statements by the patient is incorrect?</vt:lpstr>
      <vt:lpstr>What is a potential complication of sickle cell anemia? </vt:lpstr>
      <vt:lpstr>Which type of anemia is macrocytic and normochromic?  </vt:lpstr>
      <vt:lpstr>Determine if there is high or low MCV and MCHC in each of the following anemias. </vt:lpstr>
      <vt:lpstr>What is the pathophysiological process of how anemia causes jaundice? </vt:lpstr>
      <vt:lpstr>Which of the following statements is true of hemolytic anemias? </vt:lpstr>
      <vt:lpstr>Nursing Blood Things</vt:lpstr>
      <vt:lpstr>PowerPoint Presentation</vt:lpstr>
      <vt:lpstr>PowerPoint Presentation</vt:lpstr>
      <vt:lpstr>Which blood products can a patient with AB negative (AB-) blood receive? Select all that apply. </vt:lpstr>
      <vt:lpstr>Which blood products can a patient with  O positive (O+) blood receive? Select all that apply. </vt:lpstr>
      <vt:lpstr>Which of the following are potential blood transfusion reactions? Select all that apply. </vt:lpstr>
      <vt:lpstr>WBC Disorders</vt:lpstr>
      <vt:lpstr>PowerPoint Presentation</vt:lpstr>
      <vt:lpstr>PowerPoint Presentation</vt:lpstr>
      <vt:lpstr>Which of the following lymphocytes can be affected by lymphoma? Select all that apply. </vt:lpstr>
      <vt:lpstr>Select whether the following manifestations are associated with Non-Hodgkin or Hodgkin lymphoma.  </vt:lpstr>
      <vt:lpstr>PowerPoint Presentation</vt:lpstr>
      <vt:lpstr>PowerPoint Presentation</vt:lpstr>
      <vt:lpstr>Which type of leukemia is most common in children? </vt:lpstr>
      <vt:lpstr>Which types of leukemia are most associated with leukostasis? Select all that apply. </vt:lpstr>
      <vt:lpstr>Which type of leukemia is a disorder of the pluripotent stem cells? </vt:lpstr>
      <vt:lpstr>Which types of leukemia suppress proliferation of all other types of blood cells? Select all that apply.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Sivcovich, Amy</dc:creator>
  <cp:lastModifiedBy>Sivcovich, Amy</cp:lastModifiedBy>
  <cp:revision>5</cp:revision>
  <dcterms:created xsi:type="dcterms:W3CDTF">2026-06-15T13:08:00Z</dcterms:created>
  <dcterms:modified xsi:type="dcterms:W3CDTF">2026-06-24T14:45:03Z</dcterms:modified>
</cp:coreProperties>
</file>